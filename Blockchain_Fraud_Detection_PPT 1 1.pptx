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2" r:id="rId16"/>
    <p:sldId id="273" r:id="rId17"/>
    <p:sldId id="274" r:id="rId18"/>
    <p:sldId id="276" r:id="rId19"/>
    <p:sldId id="277" r:id="rId20"/>
    <p:sldId id="279" r:id="rId21"/>
    <p:sldId id="280" r:id="rId22"/>
    <p:sldId id="282" r:id="rId23"/>
    <p:sldId id="283" r:id="rId24"/>
    <p:sldId id="284" r:id="rId25"/>
    <p:sldId id="285" r:id="rId26"/>
    <p:sldId id="287" r:id="rId27"/>
    <p:sldId id="288" r:id="rId28"/>
    <p:sldId id="289" r:id="rId29"/>
    <p:sldId id="290"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323E32-E808-4F47-A5E7-6846EA9E7B32}" v="8" dt="2026-09-16T13:50:20.286"/>
    <p1510:client id="{8893100E-4A13-4ACA-971C-8D4E681E1D03}" v="76" dt="2026-09-16T13:43:31.9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microsoft.com/office/2015/10/relationships/revisionInfo" Target="revisionInfo.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711200" y="1371600"/>
            <a:ext cx="10468864"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711200" y="3228536"/>
            <a:ext cx="10472928"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47FACF69-CCD5-480B-9C28-9146CB736856}" type="datetimeFigureOut">
              <a:rPr lang="en-IN" smtClean="0"/>
              <a:pPr/>
              <a:t>16-09-2026</a:t>
            </a:fld>
            <a:endParaRPr lang="en-IN"/>
          </a:p>
        </p:txBody>
      </p:sp>
      <p:sp>
        <p:nvSpPr>
          <p:cNvPr id="19" name="Footer Placeholder 18"/>
          <p:cNvSpPr>
            <a:spLocks noGrp="1"/>
          </p:cNvSpPr>
          <p:nvPr>
            <p:ph type="ftr" sz="quarter" idx="11"/>
          </p:nvPr>
        </p:nvSpPr>
        <p:spPr/>
        <p:txBody>
          <a:bodyPr/>
          <a:lstStyle/>
          <a:p>
            <a:endParaRPr lang="en-IN"/>
          </a:p>
        </p:txBody>
      </p:sp>
      <p:sp>
        <p:nvSpPr>
          <p:cNvPr id="27" name="Slide Number Placeholder 26"/>
          <p:cNvSpPr>
            <a:spLocks noGrp="1"/>
          </p:cNvSpPr>
          <p:nvPr>
            <p:ph type="sldNum" sz="quarter" idx="12"/>
          </p:nvPr>
        </p:nvSpPr>
        <p:spPr/>
        <p:txBody>
          <a:bodyPr/>
          <a:lstStyle/>
          <a:p>
            <a:fld id="{5DF5697D-B1B7-417B-BE0D-768988233FCD}" type="slidenum">
              <a:rPr lang="en-IN" smtClean="0"/>
              <a:pPr/>
              <a:t>‹#›</a:t>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7FACF69-CCD5-480B-9C28-9146CB736856}" type="datetimeFigureOut">
              <a:rPr lang="en-IN" smtClean="0"/>
              <a:pPr/>
              <a:t>16-09-2026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F5697D-B1B7-417B-BE0D-768988233FCD}"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07136" y="1316736"/>
            <a:ext cx="103632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707136" y="2704664"/>
            <a:ext cx="103632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47FACF69-CCD5-480B-9C28-9146CB736856}" type="datetimeFigureOut">
              <a:rPr lang="en-IN" smtClean="0"/>
              <a:pPr/>
              <a:t>16-09-2026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F5697D-B1B7-417B-BE0D-768988233FCD}" type="slidenum">
              <a:rPr lang="en-IN" smtClean="0"/>
              <a:pPr/>
              <a:t>‹#›</a:t>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p>
            <a:r>
              <a:rPr kumimoji="0" lang="en-US"/>
              <a:t>Click to edit Master title style</a:t>
            </a:r>
          </a:p>
        </p:txBody>
      </p:sp>
      <p:sp>
        <p:nvSpPr>
          <p:cNvPr id="3" name="Content Placeholder 2"/>
          <p:cNvSpPr>
            <a:spLocks noGrp="1"/>
          </p:cNvSpPr>
          <p:nvPr>
            <p:ph sz="half" idx="1"/>
          </p:nvPr>
        </p:nvSpPr>
        <p:spPr>
          <a:xfrm>
            <a:off x="609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197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7FACF69-CCD5-480B-9C28-9146CB736856}" type="datetimeFigureOut">
              <a:rPr lang="en-IN" smtClean="0"/>
              <a:pPr/>
              <a:t>16-09-2026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DF5697D-B1B7-417B-BE0D-768988233FCD}"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609600" y="1855248"/>
            <a:ext cx="5386917"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3368" y="1859758"/>
            <a:ext cx="5389033"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2514600"/>
            <a:ext cx="5386917"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8" y="2514600"/>
            <a:ext cx="5389033"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47FACF69-CCD5-480B-9C28-9146CB736856}" type="datetimeFigureOut">
              <a:rPr lang="en-IN" smtClean="0"/>
              <a:pPr/>
              <a:t>16-09-2026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DF5697D-B1B7-417B-BE0D-768988233FCD}"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47FACF69-CCD5-480B-9C28-9146CB736856}" type="datetimeFigureOut">
              <a:rPr lang="en-IN" smtClean="0"/>
              <a:pPr/>
              <a:t>16-09-2026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DF5697D-B1B7-417B-BE0D-768988233FCD}"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FACF69-CCD5-480B-9C28-9146CB736856}" type="datetimeFigureOut">
              <a:rPr lang="en-IN" smtClean="0"/>
              <a:pPr/>
              <a:t>16-09-2026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DF5697D-B1B7-417B-BE0D-768988233FCD}"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14352"/>
            <a:ext cx="36576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914400" y="1676400"/>
            <a:ext cx="36576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4766733" y="1676400"/>
            <a:ext cx="6815667"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7FACF69-CCD5-480B-9C28-9146CB736856}" type="datetimeFigureOut">
              <a:rPr lang="en-IN" smtClean="0"/>
              <a:pPr/>
              <a:t>16-09-2026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DF5697D-B1B7-417B-BE0D-768988233FCD}"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4221004" y="1108077"/>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10672179" y="5359769"/>
            <a:ext cx="207264"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812800" y="1176997"/>
            <a:ext cx="2950464"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812800" y="2828785"/>
            <a:ext cx="29464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7FACF69-CCD5-480B-9C28-9146CB736856}" type="datetimeFigureOut">
              <a:rPr lang="en-IN" smtClean="0"/>
              <a:pPr/>
              <a:t>16-09-2026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69600" y="6356351"/>
            <a:ext cx="812800" cy="365125"/>
          </a:xfrm>
        </p:spPr>
        <p:txBody>
          <a:bodyPr/>
          <a:lstStyle/>
          <a:p>
            <a:fld id="{5DF5697D-B1B7-417B-BE0D-768988233FCD}" type="slidenum">
              <a:rPr lang="en-IN" smtClean="0"/>
              <a:pPr/>
              <a:t>‹#›</a:t>
            </a:fld>
            <a:endParaRPr lang="en-IN"/>
          </a:p>
        </p:txBody>
      </p:sp>
      <p:sp>
        <p:nvSpPr>
          <p:cNvPr id="3" name="Picture Placeholder 2"/>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7FACF69-CCD5-480B-9C28-9146CB736856}" type="datetimeFigureOut">
              <a:rPr lang="en-IN" smtClean="0"/>
              <a:pPr/>
              <a:t>16-09-2026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F5697D-B1B7-417B-BE0D-768988233FCD}"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14402"/>
            <a:ext cx="27432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914402"/>
            <a:ext cx="80264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7FACF69-CCD5-480B-9C28-9146CB736856}" type="datetimeFigureOut">
              <a:rPr lang="en-IN" smtClean="0"/>
              <a:pPr/>
              <a:t>16-09-2026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F5697D-B1B7-417B-BE0D-768988233FCD}"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12700" y="-7144"/>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5842000" y="-7144"/>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609600" y="704088"/>
            <a:ext cx="109728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609600" y="1935480"/>
            <a:ext cx="109728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09600" y="6356351"/>
            <a:ext cx="2844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47FACF69-CCD5-480B-9C28-9146CB736856}" type="datetimeFigureOut">
              <a:rPr lang="en-IN" smtClean="0"/>
              <a:pPr/>
              <a:t>16-09-2026</a:t>
            </a:fld>
            <a:endParaRPr lang="en-IN"/>
          </a:p>
        </p:txBody>
      </p:sp>
      <p:sp>
        <p:nvSpPr>
          <p:cNvPr id="22" name="Footer Placeholder 21"/>
          <p:cNvSpPr>
            <a:spLocks noGrp="1"/>
          </p:cNvSpPr>
          <p:nvPr>
            <p:ph type="ftr" sz="quarter" idx="3"/>
          </p:nvPr>
        </p:nvSpPr>
        <p:spPr>
          <a:xfrm>
            <a:off x="3556000" y="6356351"/>
            <a:ext cx="44704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IN"/>
          </a:p>
        </p:txBody>
      </p:sp>
      <p:sp>
        <p:nvSpPr>
          <p:cNvPr id="18" name="Slide Number Placeholder 17"/>
          <p:cNvSpPr>
            <a:spLocks noGrp="1"/>
          </p:cNvSpPr>
          <p:nvPr>
            <p:ph type="sldNum" sz="quarter" idx="4"/>
          </p:nvPr>
        </p:nvSpPr>
        <p:spPr>
          <a:xfrm>
            <a:off x="10566400" y="6356351"/>
            <a:ext cx="1016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5DF5697D-B1B7-417B-BE0D-768988233FCD}" type="slidenum">
              <a:rPr lang="en-IN" smtClean="0"/>
              <a:pPr/>
              <a:t>‹#›</a:t>
            </a:fld>
            <a:endParaRPr lang="en-IN"/>
          </a:p>
        </p:txBody>
      </p:sp>
      <p:grpSp>
        <p:nvGrpSpPr>
          <p:cNvPr id="2" name="Group 1"/>
          <p:cNvGrpSpPr/>
          <p:nvPr/>
        </p:nvGrpSpPr>
        <p:grpSpPr>
          <a:xfrm>
            <a:off x="-25356" y="202408"/>
            <a:ext cx="12240731"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704088"/>
            <a:ext cx="10972800" cy="1143000"/>
          </a:xfrm>
          <a:prstGeom prst="rect">
            <a:avLst/>
          </a:prstGeom>
          <a:noFill/>
        </p:spPr>
        <p:txBody>
          <a:bodyPr wrap="square">
            <a:spAutoFit/>
          </a:bodyPr>
          <a:lstStyle/>
          <a:p>
            <a:pPr algn="l"/>
            <a:r>
              <a:rPr sz="4800" b="1">
                <a:solidFill>
                  <a:schemeClr val="tx2"/>
                </a:solidFill>
                <a:latin typeface="Times New Roman"/>
              </a:rPr>
              <a:t>Table of Content</a:t>
            </a:r>
          </a:p>
        </p:txBody>
      </p:sp>
      <p:sp>
        <p:nvSpPr>
          <p:cNvPr id="3" name="TextBox 2"/>
          <p:cNvSpPr txBox="1"/>
          <p:nvPr/>
        </p:nvSpPr>
        <p:spPr>
          <a:xfrm>
            <a:off x="609600" y="1935480"/>
            <a:ext cx="10972800" cy="4632037"/>
          </a:xfrm>
          <a:prstGeom prst="rect">
            <a:avLst/>
          </a:prstGeom>
          <a:noFill/>
        </p:spPr>
        <p:txBody>
          <a:bodyPr wrap="square" lIns="91440" tIns="45720" rIns="91440" bIns="45720" anchor="t">
            <a:spAutoFit/>
          </a:bodyPr>
          <a:lstStyle/>
          <a:p>
            <a:pPr algn="just">
              <a:spcAft>
                <a:spcPts val="600"/>
              </a:spcAft>
            </a:pPr>
            <a:r>
              <a:rPr lang="en-US" sz="2000" dirty="0">
                <a:latin typeface="Times New Roman"/>
                <a:cs typeface="Times New Roman"/>
              </a:rPr>
              <a:t>Domain</a:t>
            </a:r>
          </a:p>
          <a:p>
            <a:pPr algn="just">
              <a:spcAft>
                <a:spcPts val="600"/>
              </a:spcAft>
            </a:pPr>
            <a:r>
              <a:rPr lang="en-US" sz="2000" dirty="0">
                <a:latin typeface="Times New Roman"/>
                <a:cs typeface="Times New Roman"/>
              </a:rPr>
              <a:t>Introduction</a:t>
            </a:r>
          </a:p>
          <a:p>
            <a:pPr algn="just">
              <a:spcAft>
                <a:spcPts val="600"/>
              </a:spcAft>
            </a:pPr>
            <a:r>
              <a:rPr lang="en-US" sz="2000" dirty="0">
                <a:latin typeface="Times New Roman"/>
                <a:cs typeface="Times New Roman"/>
              </a:rPr>
              <a:t>Abstract</a:t>
            </a:r>
          </a:p>
          <a:p>
            <a:pPr algn="just">
              <a:spcAft>
                <a:spcPts val="600"/>
              </a:spcAft>
            </a:pPr>
            <a:r>
              <a:rPr lang="en-US" sz="2000" dirty="0">
                <a:latin typeface="Times New Roman"/>
                <a:cs typeface="Times New Roman"/>
              </a:rPr>
              <a:t>Literature Survey</a:t>
            </a:r>
          </a:p>
          <a:p>
            <a:pPr algn="just">
              <a:spcAft>
                <a:spcPts val="600"/>
              </a:spcAft>
            </a:pPr>
            <a:r>
              <a:rPr lang="en-US" sz="2000" dirty="0">
                <a:latin typeface="Times New Roman"/>
                <a:cs typeface="Times New Roman"/>
              </a:rPr>
              <a:t>Analysis &amp; Explanation of Problem Identified</a:t>
            </a:r>
          </a:p>
          <a:p>
            <a:pPr algn="just">
              <a:spcAft>
                <a:spcPts val="600"/>
              </a:spcAft>
            </a:pPr>
            <a:r>
              <a:rPr lang="en-US" sz="2000" dirty="0">
                <a:latin typeface="Times New Roman"/>
                <a:cs typeface="Times New Roman"/>
              </a:rPr>
              <a:t>Existing System</a:t>
            </a:r>
          </a:p>
          <a:p>
            <a:pPr algn="just">
              <a:spcAft>
                <a:spcPts val="600"/>
              </a:spcAft>
            </a:pPr>
            <a:r>
              <a:rPr lang="en-US" sz="2000" dirty="0">
                <a:latin typeface="Times New Roman"/>
                <a:cs typeface="Times New Roman"/>
              </a:rPr>
              <a:t>Proposed System</a:t>
            </a:r>
          </a:p>
          <a:p>
            <a:pPr algn="just">
              <a:spcAft>
                <a:spcPts val="600"/>
              </a:spcAft>
            </a:pPr>
            <a:r>
              <a:rPr lang="en-US" sz="2000" dirty="0">
                <a:latin typeface="Times New Roman"/>
                <a:cs typeface="Times New Roman"/>
              </a:rPr>
              <a:t>Architecture Diagram</a:t>
            </a:r>
          </a:p>
          <a:p>
            <a:pPr algn="just">
              <a:spcAft>
                <a:spcPts val="600"/>
              </a:spcAft>
            </a:pPr>
            <a:r>
              <a:rPr lang="en-US" sz="2000" dirty="0">
                <a:latin typeface="Times New Roman"/>
                <a:cs typeface="Times New Roman"/>
              </a:rPr>
              <a:t>Modules</a:t>
            </a:r>
          </a:p>
          <a:p>
            <a:pPr algn="just">
              <a:spcAft>
                <a:spcPts val="600"/>
              </a:spcAft>
            </a:pPr>
            <a:r>
              <a:rPr lang="en-US" sz="2000" dirty="0">
                <a:latin typeface="Times New Roman"/>
                <a:cs typeface="Times New Roman"/>
              </a:rPr>
              <a:t>Output</a:t>
            </a:r>
          </a:p>
          <a:p>
            <a:pPr algn="just">
              <a:spcAft>
                <a:spcPts val="600"/>
              </a:spcAft>
            </a:pPr>
            <a:r>
              <a:rPr lang="en-US" sz="2000" dirty="0">
                <a:latin typeface="Times New Roman"/>
                <a:cs typeface="Times New Roman"/>
              </a:rPr>
              <a:t>Conclusion</a:t>
            </a:r>
          </a:p>
          <a:p>
            <a:pPr algn="just">
              <a:spcAft>
                <a:spcPts val="600"/>
              </a:spcAft>
            </a:pPr>
            <a:r>
              <a:rPr lang="en-US" sz="2000" dirty="0">
                <a:latin typeface="Times New Roman"/>
                <a:cs typeface="Times New Roman"/>
              </a:rPr>
              <a:t>References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704088"/>
            <a:ext cx="10972800" cy="1143000"/>
          </a:xfrm>
          <a:prstGeom prst="rect">
            <a:avLst/>
          </a:prstGeom>
          <a:noFill/>
        </p:spPr>
        <p:txBody>
          <a:bodyPr wrap="square">
            <a:spAutoFit/>
          </a:bodyPr>
          <a:lstStyle/>
          <a:p>
            <a:pPr algn="l"/>
            <a:r>
              <a:rPr sz="4000" b="1">
                <a:solidFill>
                  <a:schemeClr val="tx2"/>
                </a:solidFill>
                <a:latin typeface="Times New Roman"/>
              </a:rPr>
              <a:t>Domain</a:t>
            </a:r>
          </a:p>
        </p:txBody>
      </p:sp>
      <p:sp>
        <p:nvSpPr>
          <p:cNvPr id="3" name="TextBox 2"/>
          <p:cNvSpPr txBox="1"/>
          <p:nvPr/>
        </p:nvSpPr>
        <p:spPr>
          <a:xfrm>
            <a:off x="609600" y="1935480"/>
            <a:ext cx="10972800" cy="4389120"/>
          </a:xfrm>
          <a:prstGeom prst="rect">
            <a:avLst/>
          </a:prstGeom>
          <a:noFill/>
        </p:spPr>
        <p:txBody>
          <a:bodyPr wrap="square">
            <a:spAutoFit/>
          </a:bodyPr>
          <a:lstStyle/>
          <a:p>
            <a:pPr algn="just">
              <a:spcAft>
                <a:spcPts val="600"/>
              </a:spcAft>
            </a:pPr>
            <a:r>
              <a:rPr sz="2400" b="0">
                <a:latin typeface="Times New Roman"/>
              </a:rPr>
              <a:t>Financial Technology (FinTech) &amp; Fraud Detection: Real-time automated fraud detection for electronic payment networks processing billions of daily transactions.</a:t>
            </a:r>
          </a:p>
          <a:p>
            <a:pPr algn="just">
              <a:spcAft>
                <a:spcPts val="600"/>
              </a:spcAft>
            </a:pPr>
            <a:r>
              <a:rPr sz="2400" b="0">
                <a:latin typeface="Times New Roman"/>
              </a:rPr>
              <a:t>Blockchain &amp; Cryptographic Ledger Technology: Permissioned SHA-256 Merkle tree blockchain ensuring tamper-proof transaction audit trails with cryptographic non-repudiation.</a:t>
            </a:r>
          </a:p>
          <a:p>
            <a:pPr algn="just">
              <a:spcAft>
                <a:spcPts val="600"/>
              </a:spcAft>
            </a:pPr>
            <a:r>
              <a:rPr sz="2400" b="0">
                <a:latin typeface="Times New Roman"/>
              </a:rPr>
              <a:t>Explainable AI (XAI): SHAP waterfall attributions providing transparent, mathematically rigorous justifications for every fraud decision.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704088"/>
            <a:ext cx="10972800" cy="1143000"/>
          </a:xfrm>
          <a:prstGeom prst="rect">
            <a:avLst/>
          </a:prstGeom>
          <a:noFill/>
        </p:spPr>
        <p:txBody>
          <a:bodyPr wrap="square">
            <a:spAutoFit/>
          </a:bodyPr>
          <a:lstStyle/>
          <a:p>
            <a:pPr algn="l"/>
            <a:r>
              <a:rPr sz="4000" b="1">
                <a:solidFill>
                  <a:schemeClr val="tx2"/>
                </a:solidFill>
                <a:latin typeface="Times New Roman"/>
              </a:rPr>
              <a:t>Introduction</a:t>
            </a:r>
          </a:p>
        </p:txBody>
      </p:sp>
      <p:sp>
        <p:nvSpPr>
          <p:cNvPr id="3" name="TextBox 2"/>
          <p:cNvSpPr txBox="1"/>
          <p:nvPr/>
        </p:nvSpPr>
        <p:spPr>
          <a:xfrm>
            <a:off x="609600" y="1935480"/>
            <a:ext cx="10972800" cy="4389120"/>
          </a:xfrm>
          <a:prstGeom prst="rect">
            <a:avLst/>
          </a:prstGeom>
          <a:noFill/>
        </p:spPr>
        <p:txBody>
          <a:bodyPr wrap="square">
            <a:spAutoFit/>
          </a:bodyPr>
          <a:lstStyle/>
          <a:p>
            <a:pPr algn="just">
              <a:spcAft>
                <a:spcPts val="600"/>
              </a:spcAft>
            </a:pPr>
            <a:r>
              <a:rPr sz="2400" b="0">
                <a:latin typeface="Times New Roman"/>
              </a:rPr>
              <a:t>Financial fraud presents a persistent threat to global digital commerce, with payment card fraud accounting for tens of billions of dollars in annual losses worldwide.</a:t>
            </a:r>
          </a:p>
          <a:p>
            <a:pPr algn="just">
              <a:spcAft>
                <a:spcPts val="600"/>
              </a:spcAft>
            </a:pPr>
            <a:r>
              <a:rPr sz="2400" b="0">
                <a:latin typeface="Times New Roman"/>
              </a:rPr>
              <a:t>Traditional rule-based fraud screening systems rely on static threshold conditions and fail to adapt to modern adversarial fraud patterns including CNP fraud, account takeover, and micro-transaction probing.</a:t>
            </a:r>
          </a:p>
          <a:p>
            <a:pPr algn="just">
              <a:spcAft>
                <a:spcPts val="600"/>
              </a:spcAft>
            </a:pPr>
            <a:r>
              <a:rPr sz="2400" b="0">
                <a:latin typeface="Times New Roman"/>
              </a:rPr>
              <a:t>ML classifiers operate as black boxes—when legitimate transactions are blocked, no interpretable justification is provided, causing customer friction and compliance costs.</a:t>
            </a:r>
          </a:p>
          <a:p>
            <a:pPr algn="just">
              <a:spcAft>
                <a:spcPts val="600"/>
              </a:spcAft>
            </a:pPr>
            <a:r>
              <a:rPr sz="2400" b="0">
                <a:latin typeface="Times New Roman"/>
              </a:rPr>
              <a:t>This thesis presents a hybrid framework combining explainable ML anomaly detection with an immutable SHA-256 Merkle tree blockchain ledger, built using React 18, FastAPI, and a triple-database SQLite topology.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704088"/>
            <a:ext cx="10972800" cy="707886"/>
          </a:xfrm>
          <a:prstGeom prst="rect">
            <a:avLst/>
          </a:prstGeom>
          <a:noFill/>
        </p:spPr>
        <p:txBody>
          <a:bodyPr wrap="square" lIns="91440" tIns="45720" rIns="91440" bIns="45720" anchor="t">
            <a:spAutoFit/>
          </a:bodyPr>
          <a:lstStyle/>
          <a:p>
            <a:pPr algn="l"/>
            <a:r>
              <a:rPr sz="4000" b="1" dirty="0">
                <a:solidFill>
                  <a:schemeClr val="tx2"/>
                </a:solidFill>
                <a:latin typeface="Times New Roman"/>
              </a:rPr>
              <a:t>ABSTRACT</a:t>
            </a:r>
          </a:p>
        </p:txBody>
      </p:sp>
      <p:sp>
        <p:nvSpPr>
          <p:cNvPr id="3" name="TextBox 2"/>
          <p:cNvSpPr txBox="1"/>
          <p:nvPr/>
        </p:nvSpPr>
        <p:spPr>
          <a:xfrm>
            <a:off x="609600" y="1935480"/>
            <a:ext cx="10972800" cy="4385816"/>
          </a:xfrm>
          <a:prstGeom prst="rect">
            <a:avLst/>
          </a:prstGeom>
          <a:noFill/>
        </p:spPr>
        <p:txBody>
          <a:bodyPr wrap="square" lIns="91440" tIns="45720" rIns="91440" bIns="45720" anchor="t">
            <a:spAutoFit/>
          </a:bodyPr>
          <a:lstStyle/>
          <a:p>
            <a:pPr algn="just">
              <a:spcAft>
                <a:spcPts val="600"/>
              </a:spcAft>
            </a:pPr>
            <a:r>
              <a:rPr sz="2400" dirty="0">
                <a:latin typeface="Times New Roman"/>
              </a:rPr>
              <a:t>Dual-Engine ML Classification: Random Forest supervision (P_RF) combined with Isolation Forest anomaly scoring (S_IF) produces a hybrid composite risk score </a:t>
            </a:r>
            <a:r>
              <a:rPr sz="2400" dirty="0" err="1">
                <a:latin typeface="Times New Roman"/>
              </a:rPr>
              <a:t>R_final</a:t>
            </a:r>
            <a:r>
              <a:rPr sz="2400" dirty="0">
                <a:latin typeface="Times New Roman"/>
              </a:rPr>
              <a:t> = 0.70*P_RF + 0.30*S_IF.</a:t>
            </a:r>
            <a:endParaRPr lang="en-US" sz="2400" dirty="0">
              <a:latin typeface="Times New Roman"/>
              <a:cs typeface="Times New Roman"/>
            </a:endParaRPr>
          </a:p>
          <a:p>
            <a:pPr algn="just">
              <a:spcAft>
                <a:spcPts val="600"/>
              </a:spcAft>
            </a:pPr>
            <a:r>
              <a:rPr sz="2400" dirty="0">
                <a:latin typeface="Times New Roman"/>
              </a:rPr>
              <a:t>SHAP Feature Attribution: </a:t>
            </a:r>
            <a:r>
              <a:rPr sz="2400" dirty="0" err="1">
                <a:latin typeface="Times New Roman"/>
              </a:rPr>
              <a:t>TreeExplainer</a:t>
            </a:r>
            <a:r>
              <a:rPr sz="2400" dirty="0">
                <a:latin typeface="Times New Roman"/>
              </a:rPr>
              <a:t> computes exact Shapley values identifying specific feature contributions driving fraud risk scores for every flagged transaction.</a:t>
            </a:r>
            <a:endParaRPr sz="2400" dirty="0">
              <a:latin typeface="Times New Roman"/>
              <a:cs typeface="Times New Roman"/>
            </a:endParaRPr>
          </a:p>
          <a:p>
            <a:pPr algn="just">
              <a:spcAft>
                <a:spcPts val="600"/>
              </a:spcAft>
            </a:pPr>
            <a:r>
              <a:rPr sz="2400" dirty="0">
                <a:latin typeface="Times New Roman"/>
              </a:rPr>
              <a:t>SHA-256 Merkle Blockchain: Permissioned cryptographic ledger with recursive hash verification ensuring any unauthorized transaction modification invalidates the entire chain.</a:t>
            </a:r>
            <a:endParaRPr sz="2400" dirty="0">
              <a:latin typeface="Times New Roman"/>
              <a:cs typeface="Times New Roman"/>
            </a:endParaRPr>
          </a:p>
          <a:p>
            <a:pPr algn="just">
              <a:spcAft>
                <a:spcPts val="600"/>
              </a:spcAft>
            </a:pPr>
            <a:r>
              <a:rPr sz="2400" dirty="0">
                <a:latin typeface="Times New Roman"/>
              </a:rPr>
              <a:t>Smart Contract Dispute Recovery: Automated finite state machine controlling card governance through ACTIVE, SUSPENDED_RISK, FROZEN_FRAUD, and RESTORED_VERIFIED states.</a:t>
            </a:r>
            <a:endParaRPr sz="2400" dirty="0">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704088"/>
            <a:ext cx="10972800" cy="1143000"/>
          </a:xfrm>
          <a:prstGeom prst="rect">
            <a:avLst/>
          </a:prstGeom>
          <a:noFill/>
        </p:spPr>
        <p:txBody>
          <a:bodyPr wrap="square">
            <a:spAutoFit/>
          </a:bodyPr>
          <a:lstStyle/>
          <a:p>
            <a:pPr algn="l"/>
            <a:r>
              <a:rPr sz="4000" b="1">
                <a:solidFill>
                  <a:schemeClr val="tx2"/>
                </a:solidFill>
                <a:latin typeface="Times New Roman"/>
              </a:rPr>
              <a:t>Contd…</a:t>
            </a:r>
          </a:p>
        </p:txBody>
      </p:sp>
      <p:sp>
        <p:nvSpPr>
          <p:cNvPr id="3" name="TextBox 2"/>
          <p:cNvSpPr txBox="1"/>
          <p:nvPr/>
        </p:nvSpPr>
        <p:spPr>
          <a:xfrm>
            <a:off x="609600" y="1935480"/>
            <a:ext cx="10972800" cy="2616101"/>
          </a:xfrm>
          <a:prstGeom prst="rect">
            <a:avLst/>
          </a:prstGeom>
          <a:noFill/>
        </p:spPr>
        <p:txBody>
          <a:bodyPr wrap="square" lIns="91440" tIns="45720" rIns="91440" bIns="45720" anchor="t">
            <a:spAutoFit/>
          </a:bodyPr>
          <a:lstStyle/>
          <a:p>
            <a:pPr algn="just">
              <a:spcAft>
                <a:spcPts val="600"/>
              </a:spcAft>
            </a:pPr>
            <a:r>
              <a:rPr sz="2400" b="1" dirty="0">
                <a:latin typeface="Times New Roman"/>
              </a:rPr>
              <a:t>Triple Database Isolation:</a:t>
            </a:r>
          </a:p>
          <a:p>
            <a:pPr algn="just">
              <a:spcAft>
                <a:spcPts val="600"/>
              </a:spcAft>
            </a:pPr>
            <a:r>
              <a:rPr sz="2400" b="0" dirty="0" err="1">
                <a:latin typeface="Times New Roman"/>
              </a:rPr>
              <a:t>bank_core.db</a:t>
            </a:r>
            <a:r>
              <a:rPr sz="2400" b="0" dirty="0">
                <a:latin typeface="Times New Roman"/>
              </a:rPr>
              <a:t>: Customer accounts, card balances, encrypted credentials</a:t>
            </a:r>
            <a:endParaRPr sz="2400" b="0" dirty="0">
              <a:latin typeface="Times New Roman"/>
              <a:cs typeface="Times New Roman"/>
            </a:endParaRPr>
          </a:p>
          <a:p>
            <a:pPr algn="just">
              <a:spcAft>
                <a:spcPts val="600"/>
              </a:spcAft>
            </a:pPr>
            <a:r>
              <a:rPr sz="2400" b="0" dirty="0" err="1">
                <a:latin typeface="Times New Roman"/>
              </a:rPr>
              <a:t>soc_security.db</a:t>
            </a:r>
            <a:r>
              <a:rPr sz="2400" b="0" dirty="0">
                <a:latin typeface="Times New Roman"/>
              </a:rPr>
              <a:t>: Threat logs, defender playbook traces, telemetry</a:t>
            </a:r>
            <a:endParaRPr sz="2400" b="0" dirty="0">
              <a:latin typeface="Times New Roman"/>
              <a:cs typeface="Times New Roman"/>
            </a:endParaRPr>
          </a:p>
          <a:p>
            <a:pPr algn="just">
              <a:spcAft>
                <a:spcPts val="600"/>
              </a:spcAft>
            </a:pPr>
            <a:r>
              <a:rPr sz="2400" b="0" dirty="0" err="1">
                <a:latin typeface="Times New Roman"/>
              </a:rPr>
              <a:t>blockchain_ledger.db</a:t>
            </a:r>
            <a:r>
              <a:rPr sz="2400" b="0" dirty="0">
                <a:latin typeface="Times New Roman"/>
              </a:rPr>
              <a:t>: Immutable block headers, Merkle tree nodes, signed hashes</a:t>
            </a:r>
            <a:endParaRPr sz="2400" b="0" dirty="0">
              <a:latin typeface="Times New Roman"/>
              <a:cs typeface="Times New Roman"/>
            </a:endParaRPr>
          </a:p>
          <a:p>
            <a:pPr algn="just">
              <a:spcAft>
                <a:spcPts val="600"/>
              </a:spcAft>
            </a:pPr>
            <a:r>
              <a:rPr sz="2400" dirty="0">
                <a:latin typeface="Times New Roman"/>
              </a:rPr>
              <a:t>Automated Security Auto-Repair: Instant card freezing, token revocation, and dispute recovery when </a:t>
            </a:r>
            <a:r>
              <a:rPr sz="2400" dirty="0" err="1">
                <a:latin typeface="Times New Roman"/>
              </a:rPr>
              <a:t>R_final</a:t>
            </a:r>
            <a:r>
              <a:rPr sz="2400" dirty="0">
                <a:latin typeface="Times New Roman"/>
              </a:rPr>
              <a:t> exceeds critical threshold (0.85).</a:t>
            </a:r>
            <a:endParaRPr sz="2400" dirty="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704088"/>
            <a:ext cx="10972800" cy="1143000"/>
          </a:xfrm>
          <a:prstGeom prst="rect">
            <a:avLst/>
          </a:prstGeom>
          <a:noFill/>
        </p:spPr>
        <p:txBody>
          <a:bodyPr wrap="square">
            <a:spAutoFit/>
          </a:bodyPr>
          <a:lstStyle/>
          <a:p>
            <a:pPr algn="l"/>
            <a:r>
              <a:rPr sz="4000" b="1">
                <a:solidFill>
                  <a:schemeClr val="tx2"/>
                </a:solidFill>
                <a:latin typeface="Times New Roman"/>
              </a:rPr>
              <a:t>LITERATURE SURVEY</a:t>
            </a:r>
          </a:p>
        </p:txBody>
      </p:sp>
      <p:graphicFrame>
        <p:nvGraphicFramePr>
          <p:cNvPr id="3" name="Table 2"/>
          <p:cNvGraphicFramePr>
            <a:graphicFrameLocks noGrp="1"/>
          </p:cNvGraphicFramePr>
          <p:nvPr/>
        </p:nvGraphicFramePr>
        <p:xfrm>
          <a:off x="768096" y="2039112"/>
          <a:ext cx="10927080" cy="2000000"/>
        </p:xfrm>
        <a:graphic>
          <a:graphicData uri="http://schemas.openxmlformats.org/drawingml/2006/table">
            <a:tbl>
              <a:tblPr firstRow="1" bandRow="1">
                <a:tableStyleId>{5C22544A-7EE6-4342-B048-85BDC9FD1C3A}</a:tableStyleId>
              </a:tblPr>
              <a:tblGrid>
                <a:gridCol w="1561011">
                  <a:extLst>
                    <a:ext uri="{9D8B030D-6E8A-4147-A177-3AD203B41FA5}">
                      <a16:colId xmlns:a16="http://schemas.microsoft.com/office/drawing/2014/main" val="20000"/>
                    </a:ext>
                  </a:extLst>
                </a:gridCol>
                <a:gridCol w="1561011">
                  <a:extLst>
                    <a:ext uri="{9D8B030D-6E8A-4147-A177-3AD203B41FA5}">
                      <a16:colId xmlns:a16="http://schemas.microsoft.com/office/drawing/2014/main" val="20001"/>
                    </a:ext>
                  </a:extLst>
                </a:gridCol>
                <a:gridCol w="1561011">
                  <a:extLst>
                    <a:ext uri="{9D8B030D-6E8A-4147-A177-3AD203B41FA5}">
                      <a16:colId xmlns:a16="http://schemas.microsoft.com/office/drawing/2014/main" val="20002"/>
                    </a:ext>
                  </a:extLst>
                </a:gridCol>
                <a:gridCol w="1561011">
                  <a:extLst>
                    <a:ext uri="{9D8B030D-6E8A-4147-A177-3AD203B41FA5}">
                      <a16:colId xmlns:a16="http://schemas.microsoft.com/office/drawing/2014/main" val="20003"/>
                    </a:ext>
                  </a:extLst>
                </a:gridCol>
                <a:gridCol w="1561011">
                  <a:extLst>
                    <a:ext uri="{9D8B030D-6E8A-4147-A177-3AD203B41FA5}">
                      <a16:colId xmlns:a16="http://schemas.microsoft.com/office/drawing/2014/main" val="20004"/>
                    </a:ext>
                  </a:extLst>
                </a:gridCol>
                <a:gridCol w="1561011">
                  <a:extLst>
                    <a:ext uri="{9D8B030D-6E8A-4147-A177-3AD203B41FA5}">
                      <a16:colId xmlns:a16="http://schemas.microsoft.com/office/drawing/2014/main" val="20005"/>
                    </a:ext>
                  </a:extLst>
                </a:gridCol>
                <a:gridCol w="1561014">
                  <a:extLst>
                    <a:ext uri="{9D8B030D-6E8A-4147-A177-3AD203B41FA5}">
                      <a16:colId xmlns:a16="http://schemas.microsoft.com/office/drawing/2014/main" val="20006"/>
                    </a:ext>
                  </a:extLst>
                </a:gridCol>
              </a:tblGrid>
              <a:tr h="500000">
                <a:tc>
                  <a:txBody>
                    <a:bodyPr/>
                    <a:lstStyle/>
                    <a:p>
                      <a:pPr>
                        <a:defRPr sz="1400" b="1">
                          <a:latin typeface="Times New Roman"/>
                        </a:defRPr>
                      </a:pPr>
                      <a:r>
                        <a:t>S.No</a:t>
                      </a:r>
                    </a:p>
                  </a:txBody>
                  <a:tcPr/>
                </a:tc>
                <a:tc>
                  <a:txBody>
                    <a:bodyPr/>
                    <a:lstStyle/>
                    <a:p>
                      <a:pPr>
                        <a:defRPr sz="1400" b="1">
                          <a:latin typeface="Times New Roman"/>
                        </a:defRPr>
                      </a:pPr>
                      <a:r>
                        <a:t>Title</a:t>
                      </a:r>
                    </a:p>
                  </a:txBody>
                  <a:tcPr/>
                </a:tc>
                <a:tc>
                  <a:txBody>
                    <a:bodyPr/>
                    <a:lstStyle/>
                    <a:p>
                      <a:pPr>
                        <a:defRPr sz="1400" b="1">
                          <a:latin typeface="Times New Roman"/>
                        </a:defRPr>
                      </a:pPr>
                      <a:r>
                        <a:t>Author</a:t>
                      </a:r>
                    </a:p>
                  </a:txBody>
                  <a:tcPr/>
                </a:tc>
                <a:tc>
                  <a:txBody>
                    <a:bodyPr/>
                    <a:lstStyle/>
                    <a:p>
                      <a:pPr>
                        <a:defRPr sz="1400" b="1">
                          <a:latin typeface="Times New Roman"/>
                        </a:defRPr>
                      </a:pPr>
                      <a:r>
                        <a:t>Description</a:t>
                      </a:r>
                    </a:p>
                  </a:txBody>
                  <a:tcPr/>
                </a:tc>
                <a:tc>
                  <a:txBody>
                    <a:bodyPr/>
                    <a:lstStyle/>
                    <a:p>
                      <a:pPr>
                        <a:defRPr sz="1400" b="1">
                          <a:latin typeface="Times New Roman"/>
                        </a:defRPr>
                      </a:pPr>
                      <a:r>
                        <a:t>Year</a:t>
                      </a:r>
                    </a:p>
                  </a:txBody>
                  <a:tcPr/>
                </a:tc>
                <a:tc>
                  <a:txBody>
                    <a:bodyPr/>
                    <a:lstStyle/>
                    <a:p>
                      <a:pPr>
                        <a:defRPr sz="1400" b="1">
                          <a:latin typeface="Times New Roman"/>
                        </a:defRPr>
                      </a:pPr>
                      <a:r>
                        <a:t>Advantages</a:t>
                      </a:r>
                    </a:p>
                  </a:txBody>
                  <a:tcPr/>
                </a:tc>
                <a:tc>
                  <a:txBody>
                    <a:bodyPr/>
                    <a:lstStyle/>
                    <a:p>
                      <a:pPr>
                        <a:defRPr sz="1400" b="1">
                          <a:latin typeface="Times New Roman"/>
                        </a:defRPr>
                      </a:pPr>
                      <a:r>
                        <a:t>Disadvantages</a:t>
                      </a:r>
                    </a:p>
                  </a:txBody>
                  <a:tcPr/>
                </a:tc>
                <a:extLst>
                  <a:ext uri="{0D108BD9-81ED-4DB2-BD59-A6C34878D82A}">
                    <a16:rowId xmlns:a16="http://schemas.microsoft.com/office/drawing/2014/main" val="10000"/>
                  </a:ext>
                </a:extLst>
              </a:tr>
              <a:tr h="500000">
                <a:tc>
                  <a:txBody>
                    <a:bodyPr/>
                    <a:lstStyle/>
                    <a:p>
                      <a:pPr>
                        <a:defRPr sz="1400">
                          <a:latin typeface="Times New Roman"/>
                        </a:defRPr>
                      </a:pPr>
                      <a:r>
                        <a:t>1</a:t>
                      </a:r>
                    </a:p>
                  </a:txBody>
                  <a:tcPr/>
                </a:tc>
                <a:tc>
                  <a:txBody>
                    <a:bodyPr/>
                    <a:lstStyle/>
                    <a:p>
                      <a:pPr>
                        <a:defRPr sz="1400">
                          <a:latin typeface="Times New Roman"/>
                        </a:defRPr>
                      </a:pPr>
                      <a:r>
                        <a:t>Bitcoin: P2P Electronic Cash</a:t>
                      </a:r>
                    </a:p>
                  </a:txBody>
                  <a:tcPr/>
                </a:tc>
                <a:tc>
                  <a:txBody>
                    <a:bodyPr/>
                    <a:lstStyle/>
                    <a:p>
                      <a:pPr>
                        <a:defRPr sz="1400">
                          <a:latin typeface="Times New Roman"/>
                        </a:defRPr>
                      </a:pPr>
                      <a:r>
                        <a:t>Nakamoto, S.</a:t>
                      </a:r>
                    </a:p>
                  </a:txBody>
                  <a:tcPr/>
                </a:tc>
                <a:tc>
                  <a:txBody>
                    <a:bodyPr/>
                    <a:lstStyle/>
                    <a:p>
                      <a:pPr>
                        <a:defRPr sz="1400">
                          <a:latin typeface="Times New Roman"/>
                        </a:defRPr>
                      </a:pPr>
                      <a:r>
                        <a:t>Decentralized SHA-256 consensus without central authority</a:t>
                      </a:r>
                    </a:p>
                  </a:txBody>
                  <a:tcPr/>
                </a:tc>
                <a:tc>
                  <a:txBody>
                    <a:bodyPr/>
                    <a:lstStyle/>
                    <a:p>
                      <a:pPr>
                        <a:defRPr sz="1400">
                          <a:latin typeface="Times New Roman"/>
                        </a:defRPr>
                      </a:pPr>
                      <a:r>
                        <a:t>2008</a:t>
                      </a:r>
                    </a:p>
                  </a:txBody>
                  <a:tcPr/>
                </a:tc>
                <a:tc>
                  <a:txBody>
                    <a:bodyPr/>
                    <a:lstStyle/>
                    <a:p>
                      <a:pPr>
                        <a:defRPr sz="1400">
                          <a:latin typeface="Times New Roman"/>
                        </a:defRPr>
                      </a:pPr>
                      <a:r>
                        <a:t>Foundation of blockchain</a:t>
                      </a:r>
                    </a:p>
                  </a:txBody>
                  <a:tcPr/>
                </a:tc>
                <a:tc>
                  <a:txBody>
                    <a:bodyPr/>
                    <a:lstStyle/>
                    <a:p>
                      <a:pPr>
                        <a:defRPr sz="1400">
                          <a:latin typeface="Times New Roman"/>
                        </a:defRPr>
                      </a:pPr>
                      <a:r>
                        <a:t>Low throughput</a:t>
                      </a:r>
                    </a:p>
                  </a:txBody>
                  <a:tcPr/>
                </a:tc>
                <a:extLst>
                  <a:ext uri="{0D108BD9-81ED-4DB2-BD59-A6C34878D82A}">
                    <a16:rowId xmlns:a16="http://schemas.microsoft.com/office/drawing/2014/main" val="10001"/>
                  </a:ext>
                </a:extLst>
              </a:tr>
              <a:tr h="500000">
                <a:tc>
                  <a:txBody>
                    <a:bodyPr/>
                    <a:lstStyle/>
                    <a:p>
                      <a:pPr>
                        <a:defRPr sz="1400">
                          <a:latin typeface="Times New Roman"/>
                        </a:defRPr>
                      </a:pPr>
                      <a:r>
                        <a:t>2</a:t>
                      </a:r>
                    </a:p>
                  </a:txBody>
                  <a:tcPr/>
                </a:tc>
                <a:tc>
                  <a:txBody>
                    <a:bodyPr/>
                    <a:lstStyle/>
                    <a:p>
                      <a:pPr>
                        <a:defRPr sz="1400">
                          <a:latin typeface="Times New Roman"/>
                        </a:defRPr>
                      </a:pPr>
                      <a:r>
                        <a:t>Ethereum: Secure Transaction Ledger</a:t>
                      </a:r>
                    </a:p>
                  </a:txBody>
                  <a:tcPr/>
                </a:tc>
                <a:tc>
                  <a:txBody>
                    <a:bodyPr/>
                    <a:lstStyle/>
                    <a:p>
                      <a:pPr>
                        <a:defRPr sz="1400">
                          <a:latin typeface="Times New Roman"/>
                        </a:defRPr>
                      </a:pPr>
                      <a:r>
                        <a:t>Wood, G.</a:t>
                      </a:r>
                    </a:p>
                  </a:txBody>
                  <a:tcPr/>
                </a:tc>
                <a:tc>
                  <a:txBody>
                    <a:bodyPr/>
                    <a:lstStyle/>
                    <a:p>
                      <a:pPr>
                        <a:defRPr sz="1400">
                          <a:latin typeface="Times New Roman"/>
                        </a:defRPr>
                      </a:pPr>
                      <a:r>
                        <a:t>Turing-complete smart contracts on blockchain</a:t>
                      </a:r>
                    </a:p>
                  </a:txBody>
                  <a:tcPr/>
                </a:tc>
                <a:tc>
                  <a:txBody>
                    <a:bodyPr/>
                    <a:lstStyle/>
                    <a:p>
                      <a:pPr>
                        <a:defRPr sz="1400">
                          <a:latin typeface="Times New Roman"/>
                        </a:defRPr>
                      </a:pPr>
                      <a:r>
                        <a:t>2014</a:t>
                      </a:r>
                    </a:p>
                  </a:txBody>
                  <a:tcPr/>
                </a:tc>
                <a:tc>
                  <a:txBody>
                    <a:bodyPr/>
                    <a:lstStyle/>
                    <a:p>
                      <a:pPr>
                        <a:defRPr sz="1400">
                          <a:latin typeface="Times New Roman"/>
                        </a:defRPr>
                      </a:pPr>
                      <a:r>
                        <a:t>Programmable contracts</a:t>
                      </a:r>
                    </a:p>
                  </a:txBody>
                  <a:tcPr/>
                </a:tc>
                <a:tc>
                  <a:txBody>
                    <a:bodyPr/>
                    <a:lstStyle/>
                    <a:p>
                      <a:pPr>
                        <a:defRPr sz="1400">
                          <a:latin typeface="Times New Roman"/>
                        </a:defRPr>
                      </a:pPr>
                      <a:r>
                        <a:t>Gas fees/latency</a:t>
                      </a:r>
                    </a:p>
                  </a:txBody>
                  <a:tcPr/>
                </a:tc>
                <a:extLst>
                  <a:ext uri="{0D108BD9-81ED-4DB2-BD59-A6C34878D82A}">
                    <a16:rowId xmlns:a16="http://schemas.microsoft.com/office/drawing/2014/main" val="10002"/>
                  </a:ext>
                </a:extLst>
              </a:tr>
              <a:tr h="500000">
                <a:tc>
                  <a:txBody>
                    <a:bodyPr/>
                    <a:lstStyle/>
                    <a:p>
                      <a:pPr>
                        <a:defRPr sz="1400">
                          <a:latin typeface="Times New Roman"/>
                        </a:defRPr>
                      </a:pPr>
                      <a:r>
                        <a:t>3</a:t>
                      </a:r>
                    </a:p>
                  </a:txBody>
                  <a:tcPr/>
                </a:tc>
                <a:tc>
                  <a:txBody>
                    <a:bodyPr/>
                    <a:lstStyle/>
                    <a:p>
                      <a:pPr>
                        <a:defRPr sz="1400">
                          <a:latin typeface="Times New Roman"/>
                        </a:defRPr>
                      </a:pPr>
                      <a:r>
                        <a:t>Random Forests</a:t>
                      </a:r>
                    </a:p>
                  </a:txBody>
                  <a:tcPr/>
                </a:tc>
                <a:tc>
                  <a:txBody>
                    <a:bodyPr/>
                    <a:lstStyle/>
                    <a:p>
                      <a:pPr>
                        <a:defRPr sz="1400">
                          <a:latin typeface="Times New Roman"/>
                        </a:defRPr>
                      </a:pPr>
                      <a:r>
                        <a:t>Breiman, L.</a:t>
                      </a:r>
                    </a:p>
                  </a:txBody>
                  <a:tcPr/>
                </a:tc>
                <a:tc>
                  <a:txBody>
                    <a:bodyPr/>
                    <a:lstStyle/>
                    <a:p>
                      <a:pPr>
                        <a:defRPr sz="1400">
                          <a:latin typeface="Times New Roman"/>
                        </a:defRPr>
                      </a:pPr>
                      <a:r>
                        <a:t>Ensemble decision tree classification</a:t>
                      </a:r>
                    </a:p>
                  </a:txBody>
                  <a:tcPr/>
                </a:tc>
                <a:tc>
                  <a:txBody>
                    <a:bodyPr/>
                    <a:lstStyle/>
                    <a:p>
                      <a:pPr>
                        <a:defRPr sz="1400">
                          <a:latin typeface="Times New Roman"/>
                        </a:defRPr>
                      </a:pPr>
                      <a:r>
                        <a:t>2001</a:t>
                      </a:r>
                    </a:p>
                  </a:txBody>
                  <a:tcPr/>
                </a:tc>
                <a:tc>
                  <a:txBody>
                    <a:bodyPr/>
                    <a:lstStyle/>
                    <a:p>
                      <a:pPr>
                        <a:defRPr sz="1400">
                          <a:latin typeface="Times New Roman"/>
                        </a:defRPr>
                      </a:pPr>
                      <a:r>
                        <a:t>Robust against overfitting</a:t>
                      </a:r>
                    </a:p>
                  </a:txBody>
                  <a:tcPr/>
                </a:tc>
                <a:tc>
                  <a:txBody>
                    <a:bodyPr/>
                    <a:lstStyle/>
                    <a:p>
                      <a:pPr>
                        <a:defRPr sz="1400">
                          <a:latin typeface="Times New Roman"/>
                        </a:defRPr>
                      </a:pPr>
                      <a:r>
                        <a:t>Feature engineering</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704088"/>
            <a:ext cx="10972800" cy="1143000"/>
          </a:xfrm>
          <a:prstGeom prst="rect">
            <a:avLst/>
          </a:prstGeom>
          <a:noFill/>
        </p:spPr>
        <p:txBody>
          <a:bodyPr wrap="square">
            <a:spAutoFit/>
          </a:bodyPr>
          <a:lstStyle/>
          <a:p>
            <a:pPr algn="r"/>
            <a:r>
              <a:rPr sz="4000" b="1">
                <a:solidFill>
                  <a:schemeClr val="tx2"/>
                </a:solidFill>
                <a:latin typeface="Times New Roman"/>
              </a:rPr>
              <a:t>CONTD...</a:t>
            </a:r>
          </a:p>
        </p:txBody>
      </p:sp>
      <p:graphicFrame>
        <p:nvGraphicFramePr>
          <p:cNvPr id="3" name="Table 2"/>
          <p:cNvGraphicFramePr>
            <a:graphicFrameLocks noGrp="1"/>
          </p:cNvGraphicFramePr>
          <p:nvPr/>
        </p:nvGraphicFramePr>
        <p:xfrm>
          <a:off x="768096" y="2039112"/>
          <a:ext cx="10927080" cy="2000000"/>
        </p:xfrm>
        <a:graphic>
          <a:graphicData uri="http://schemas.openxmlformats.org/drawingml/2006/table">
            <a:tbl>
              <a:tblPr firstRow="1" bandRow="1">
                <a:tableStyleId>{5C22544A-7EE6-4342-B048-85BDC9FD1C3A}</a:tableStyleId>
              </a:tblPr>
              <a:tblGrid>
                <a:gridCol w="1561011">
                  <a:extLst>
                    <a:ext uri="{9D8B030D-6E8A-4147-A177-3AD203B41FA5}">
                      <a16:colId xmlns:a16="http://schemas.microsoft.com/office/drawing/2014/main" val="20000"/>
                    </a:ext>
                  </a:extLst>
                </a:gridCol>
                <a:gridCol w="1561011">
                  <a:extLst>
                    <a:ext uri="{9D8B030D-6E8A-4147-A177-3AD203B41FA5}">
                      <a16:colId xmlns:a16="http://schemas.microsoft.com/office/drawing/2014/main" val="20001"/>
                    </a:ext>
                  </a:extLst>
                </a:gridCol>
                <a:gridCol w="1561011">
                  <a:extLst>
                    <a:ext uri="{9D8B030D-6E8A-4147-A177-3AD203B41FA5}">
                      <a16:colId xmlns:a16="http://schemas.microsoft.com/office/drawing/2014/main" val="20002"/>
                    </a:ext>
                  </a:extLst>
                </a:gridCol>
                <a:gridCol w="1561011">
                  <a:extLst>
                    <a:ext uri="{9D8B030D-6E8A-4147-A177-3AD203B41FA5}">
                      <a16:colId xmlns:a16="http://schemas.microsoft.com/office/drawing/2014/main" val="20003"/>
                    </a:ext>
                  </a:extLst>
                </a:gridCol>
                <a:gridCol w="1561011">
                  <a:extLst>
                    <a:ext uri="{9D8B030D-6E8A-4147-A177-3AD203B41FA5}">
                      <a16:colId xmlns:a16="http://schemas.microsoft.com/office/drawing/2014/main" val="20004"/>
                    </a:ext>
                  </a:extLst>
                </a:gridCol>
                <a:gridCol w="1561011">
                  <a:extLst>
                    <a:ext uri="{9D8B030D-6E8A-4147-A177-3AD203B41FA5}">
                      <a16:colId xmlns:a16="http://schemas.microsoft.com/office/drawing/2014/main" val="20005"/>
                    </a:ext>
                  </a:extLst>
                </a:gridCol>
                <a:gridCol w="1561014">
                  <a:extLst>
                    <a:ext uri="{9D8B030D-6E8A-4147-A177-3AD203B41FA5}">
                      <a16:colId xmlns:a16="http://schemas.microsoft.com/office/drawing/2014/main" val="20006"/>
                    </a:ext>
                  </a:extLst>
                </a:gridCol>
              </a:tblGrid>
              <a:tr h="500000">
                <a:tc>
                  <a:txBody>
                    <a:bodyPr/>
                    <a:lstStyle/>
                    <a:p>
                      <a:pPr>
                        <a:defRPr sz="1400" b="1">
                          <a:latin typeface="Times New Roman"/>
                        </a:defRPr>
                      </a:pPr>
                      <a:r>
                        <a:t>S.No</a:t>
                      </a:r>
                    </a:p>
                  </a:txBody>
                  <a:tcPr/>
                </a:tc>
                <a:tc>
                  <a:txBody>
                    <a:bodyPr/>
                    <a:lstStyle/>
                    <a:p>
                      <a:pPr>
                        <a:defRPr sz="1400" b="1">
                          <a:latin typeface="Times New Roman"/>
                        </a:defRPr>
                      </a:pPr>
                      <a:r>
                        <a:t>Title</a:t>
                      </a:r>
                    </a:p>
                  </a:txBody>
                  <a:tcPr/>
                </a:tc>
                <a:tc>
                  <a:txBody>
                    <a:bodyPr/>
                    <a:lstStyle/>
                    <a:p>
                      <a:pPr>
                        <a:defRPr sz="1400" b="1">
                          <a:latin typeface="Times New Roman"/>
                        </a:defRPr>
                      </a:pPr>
                      <a:r>
                        <a:t>Author</a:t>
                      </a:r>
                    </a:p>
                  </a:txBody>
                  <a:tcPr/>
                </a:tc>
                <a:tc>
                  <a:txBody>
                    <a:bodyPr/>
                    <a:lstStyle/>
                    <a:p>
                      <a:pPr>
                        <a:defRPr sz="1400" b="1">
                          <a:latin typeface="Times New Roman"/>
                        </a:defRPr>
                      </a:pPr>
                      <a:r>
                        <a:t>Description</a:t>
                      </a:r>
                    </a:p>
                  </a:txBody>
                  <a:tcPr/>
                </a:tc>
                <a:tc>
                  <a:txBody>
                    <a:bodyPr/>
                    <a:lstStyle/>
                    <a:p>
                      <a:pPr>
                        <a:defRPr sz="1400" b="1">
                          <a:latin typeface="Times New Roman"/>
                        </a:defRPr>
                      </a:pPr>
                      <a:r>
                        <a:t>Year</a:t>
                      </a:r>
                    </a:p>
                  </a:txBody>
                  <a:tcPr/>
                </a:tc>
                <a:tc>
                  <a:txBody>
                    <a:bodyPr/>
                    <a:lstStyle/>
                    <a:p>
                      <a:pPr>
                        <a:defRPr sz="1400" b="1">
                          <a:latin typeface="Times New Roman"/>
                        </a:defRPr>
                      </a:pPr>
                      <a:r>
                        <a:t>Advantages</a:t>
                      </a:r>
                    </a:p>
                  </a:txBody>
                  <a:tcPr/>
                </a:tc>
                <a:tc>
                  <a:txBody>
                    <a:bodyPr/>
                    <a:lstStyle/>
                    <a:p>
                      <a:pPr>
                        <a:defRPr sz="1400" b="1">
                          <a:latin typeface="Times New Roman"/>
                        </a:defRPr>
                      </a:pPr>
                      <a:r>
                        <a:t>Disadvantages</a:t>
                      </a:r>
                    </a:p>
                  </a:txBody>
                  <a:tcPr/>
                </a:tc>
                <a:extLst>
                  <a:ext uri="{0D108BD9-81ED-4DB2-BD59-A6C34878D82A}">
                    <a16:rowId xmlns:a16="http://schemas.microsoft.com/office/drawing/2014/main" val="10000"/>
                  </a:ext>
                </a:extLst>
              </a:tr>
              <a:tr h="500000">
                <a:tc>
                  <a:txBody>
                    <a:bodyPr/>
                    <a:lstStyle/>
                    <a:p>
                      <a:pPr>
                        <a:defRPr sz="1400">
                          <a:latin typeface="Times New Roman"/>
                        </a:defRPr>
                      </a:pPr>
                      <a:r>
                        <a:t>4</a:t>
                      </a:r>
                    </a:p>
                  </a:txBody>
                  <a:tcPr/>
                </a:tc>
                <a:tc>
                  <a:txBody>
                    <a:bodyPr/>
                    <a:lstStyle/>
                    <a:p>
                      <a:pPr>
                        <a:defRPr sz="1400">
                          <a:latin typeface="Times New Roman"/>
                        </a:defRPr>
                      </a:pPr>
                      <a:r>
                        <a:t>Isolation Forest</a:t>
                      </a:r>
                    </a:p>
                  </a:txBody>
                  <a:tcPr/>
                </a:tc>
                <a:tc>
                  <a:txBody>
                    <a:bodyPr/>
                    <a:lstStyle/>
                    <a:p>
                      <a:pPr>
                        <a:defRPr sz="1400">
                          <a:latin typeface="Times New Roman"/>
                        </a:defRPr>
                      </a:pPr>
                      <a:r>
                        <a:t>Liu et al.</a:t>
                      </a:r>
                    </a:p>
                  </a:txBody>
                  <a:tcPr/>
                </a:tc>
                <a:tc>
                  <a:txBody>
                    <a:bodyPr/>
                    <a:lstStyle/>
                    <a:p>
                      <a:pPr>
                        <a:defRPr sz="1400">
                          <a:latin typeface="Times New Roman"/>
                        </a:defRPr>
                      </a:pPr>
                      <a:r>
                        <a:t>Unsupervised anomaly detection via isolation</a:t>
                      </a:r>
                    </a:p>
                  </a:txBody>
                  <a:tcPr/>
                </a:tc>
                <a:tc>
                  <a:txBody>
                    <a:bodyPr/>
                    <a:lstStyle/>
                    <a:p>
                      <a:pPr>
                        <a:defRPr sz="1400">
                          <a:latin typeface="Times New Roman"/>
                        </a:defRPr>
                      </a:pPr>
                      <a:r>
                        <a:t>2008</a:t>
                      </a:r>
                    </a:p>
                  </a:txBody>
                  <a:tcPr/>
                </a:tc>
                <a:tc>
                  <a:txBody>
                    <a:bodyPr/>
                    <a:lstStyle/>
                    <a:p>
                      <a:pPr>
                        <a:defRPr sz="1400">
                          <a:latin typeface="Times New Roman"/>
                        </a:defRPr>
                      </a:pPr>
                      <a:r>
                        <a:t>Detects novel fraud</a:t>
                      </a:r>
                    </a:p>
                  </a:txBody>
                  <a:tcPr/>
                </a:tc>
                <a:tc>
                  <a:txBody>
                    <a:bodyPr/>
                    <a:lstStyle/>
                    <a:p>
                      <a:pPr>
                        <a:defRPr sz="1400">
                          <a:latin typeface="Times New Roman"/>
                        </a:defRPr>
                      </a:pPr>
                      <a:r>
                        <a:t>Threshold sensitivity</a:t>
                      </a:r>
                    </a:p>
                  </a:txBody>
                  <a:tcPr/>
                </a:tc>
                <a:extLst>
                  <a:ext uri="{0D108BD9-81ED-4DB2-BD59-A6C34878D82A}">
                    <a16:rowId xmlns:a16="http://schemas.microsoft.com/office/drawing/2014/main" val="10001"/>
                  </a:ext>
                </a:extLst>
              </a:tr>
              <a:tr h="500000">
                <a:tc>
                  <a:txBody>
                    <a:bodyPr/>
                    <a:lstStyle/>
                    <a:p>
                      <a:pPr>
                        <a:defRPr sz="1400">
                          <a:latin typeface="Times New Roman"/>
                        </a:defRPr>
                      </a:pPr>
                      <a:r>
                        <a:t>5</a:t>
                      </a:r>
                    </a:p>
                  </a:txBody>
                  <a:tcPr/>
                </a:tc>
                <a:tc>
                  <a:txBody>
                    <a:bodyPr/>
                    <a:lstStyle/>
                    <a:p>
                      <a:pPr>
                        <a:defRPr sz="1400">
                          <a:latin typeface="Times New Roman"/>
                        </a:defRPr>
                      </a:pPr>
                      <a:r>
                        <a:t>SHAP: Feature Attribution</a:t>
                      </a:r>
                    </a:p>
                  </a:txBody>
                  <a:tcPr/>
                </a:tc>
                <a:tc>
                  <a:txBody>
                    <a:bodyPr/>
                    <a:lstStyle/>
                    <a:p>
                      <a:pPr>
                        <a:defRPr sz="1400">
                          <a:latin typeface="Times New Roman"/>
                        </a:defRPr>
                      </a:pPr>
                      <a:r>
                        <a:t>Lundberg &amp; Lee</a:t>
                      </a:r>
                    </a:p>
                  </a:txBody>
                  <a:tcPr/>
                </a:tc>
                <a:tc>
                  <a:txBody>
                    <a:bodyPr/>
                    <a:lstStyle/>
                    <a:p>
                      <a:pPr>
                        <a:defRPr sz="1400">
                          <a:latin typeface="Times New Roman"/>
                        </a:defRPr>
                      </a:pPr>
                      <a:r>
                        <a:t>Unified explanation via cooperative game theory</a:t>
                      </a:r>
                    </a:p>
                  </a:txBody>
                  <a:tcPr/>
                </a:tc>
                <a:tc>
                  <a:txBody>
                    <a:bodyPr/>
                    <a:lstStyle/>
                    <a:p>
                      <a:pPr>
                        <a:defRPr sz="1400">
                          <a:latin typeface="Times New Roman"/>
                        </a:defRPr>
                      </a:pPr>
                      <a:r>
                        <a:t>2017</a:t>
                      </a:r>
                    </a:p>
                  </a:txBody>
                  <a:tcPr/>
                </a:tc>
                <a:tc>
                  <a:txBody>
                    <a:bodyPr/>
                    <a:lstStyle/>
                    <a:p>
                      <a:pPr>
                        <a:defRPr sz="1400">
                          <a:latin typeface="Times New Roman"/>
                        </a:defRPr>
                      </a:pPr>
                      <a:r>
                        <a:t>Mathematical guarantees</a:t>
                      </a:r>
                    </a:p>
                  </a:txBody>
                  <a:tcPr/>
                </a:tc>
                <a:tc>
                  <a:txBody>
                    <a:bodyPr/>
                    <a:lstStyle/>
                    <a:p>
                      <a:pPr>
                        <a:defRPr sz="1400">
                          <a:latin typeface="Times New Roman"/>
                        </a:defRPr>
                      </a:pPr>
                      <a:r>
                        <a:t>Computation cost</a:t>
                      </a:r>
                    </a:p>
                  </a:txBody>
                  <a:tcPr/>
                </a:tc>
                <a:extLst>
                  <a:ext uri="{0D108BD9-81ED-4DB2-BD59-A6C34878D82A}">
                    <a16:rowId xmlns:a16="http://schemas.microsoft.com/office/drawing/2014/main" val="10002"/>
                  </a:ext>
                </a:extLst>
              </a:tr>
              <a:tr h="500000">
                <a:tc>
                  <a:txBody>
                    <a:bodyPr/>
                    <a:lstStyle/>
                    <a:p>
                      <a:pPr>
                        <a:defRPr sz="1400">
                          <a:latin typeface="Times New Roman"/>
                        </a:defRPr>
                      </a:pPr>
                      <a:r>
                        <a:t>6</a:t>
                      </a:r>
                    </a:p>
                  </a:txBody>
                  <a:tcPr/>
                </a:tc>
                <a:tc>
                  <a:txBody>
                    <a:bodyPr/>
                    <a:lstStyle/>
                    <a:p>
                      <a:pPr>
                        <a:defRPr sz="1400">
                          <a:latin typeface="Times New Roman"/>
                        </a:defRPr>
                      </a:pPr>
                      <a:r>
                        <a:t>Credit Card Fraud Calibration</a:t>
                      </a:r>
                    </a:p>
                  </a:txBody>
                  <a:tcPr/>
                </a:tc>
                <a:tc>
                  <a:txBody>
                    <a:bodyPr/>
                    <a:lstStyle/>
                    <a:p>
                      <a:pPr>
                        <a:defRPr sz="1400">
                          <a:latin typeface="Times New Roman"/>
                        </a:defRPr>
                      </a:pPr>
                      <a:r>
                        <a:t>Dal Pozzolo et al.</a:t>
                      </a:r>
                    </a:p>
                  </a:txBody>
                  <a:tcPr/>
                </a:tc>
                <a:tc>
                  <a:txBody>
                    <a:bodyPr/>
                    <a:lstStyle/>
                    <a:p>
                      <a:pPr>
                        <a:defRPr sz="1400">
                          <a:latin typeface="Times New Roman"/>
                        </a:defRPr>
                      </a:pPr>
                      <a:r>
                        <a:t>SMOTE + undersampling for class imbalance</a:t>
                      </a:r>
                    </a:p>
                  </a:txBody>
                  <a:tcPr/>
                </a:tc>
                <a:tc>
                  <a:txBody>
                    <a:bodyPr/>
                    <a:lstStyle/>
                    <a:p>
                      <a:pPr>
                        <a:defRPr sz="1400">
                          <a:latin typeface="Times New Roman"/>
                        </a:defRPr>
                      </a:pPr>
                      <a:r>
                        <a:t>2015</a:t>
                      </a:r>
                    </a:p>
                  </a:txBody>
                  <a:tcPr/>
                </a:tc>
                <a:tc>
                  <a:txBody>
                    <a:bodyPr/>
                    <a:lstStyle/>
                    <a:p>
                      <a:pPr>
                        <a:defRPr sz="1400">
                          <a:latin typeface="Times New Roman"/>
                        </a:defRPr>
                      </a:pPr>
                      <a:r>
                        <a:t>Improved precision-recall</a:t>
                      </a:r>
                    </a:p>
                  </a:txBody>
                  <a:tcPr/>
                </a:tc>
                <a:tc>
                  <a:txBody>
                    <a:bodyPr/>
                    <a:lstStyle/>
                    <a:p>
                      <a:pPr>
                        <a:defRPr sz="1400">
                          <a:latin typeface="Times New Roman"/>
                        </a:defRPr>
                      </a:pPr>
                      <a:r>
                        <a:t>Synthetic data risks</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704088"/>
            <a:ext cx="10972800" cy="1143000"/>
          </a:xfrm>
          <a:prstGeom prst="rect">
            <a:avLst/>
          </a:prstGeom>
          <a:noFill/>
        </p:spPr>
        <p:txBody>
          <a:bodyPr wrap="square">
            <a:spAutoFit/>
          </a:bodyPr>
          <a:lstStyle/>
          <a:p>
            <a:pPr algn="r"/>
            <a:r>
              <a:rPr sz="4000" b="1">
                <a:solidFill>
                  <a:schemeClr val="tx2"/>
                </a:solidFill>
                <a:latin typeface="Times New Roman"/>
              </a:rPr>
              <a:t>CONTD...</a:t>
            </a:r>
          </a:p>
        </p:txBody>
      </p:sp>
      <p:graphicFrame>
        <p:nvGraphicFramePr>
          <p:cNvPr id="3" name="Table 2"/>
          <p:cNvGraphicFramePr>
            <a:graphicFrameLocks noGrp="1"/>
          </p:cNvGraphicFramePr>
          <p:nvPr/>
        </p:nvGraphicFramePr>
        <p:xfrm>
          <a:off x="768096" y="2039112"/>
          <a:ext cx="10927080" cy="2000000"/>
        </p:xfrm>
        <a:graphic>
          <a:graphicData uri="http://schemas.openxmlformats.org/drawingml/2006/table">
            <a:tbl>
              <a:tblPr firstRow="1" bandRow="1">
                <a:tableStyleId>{5C22544A-7EE6-4342-B048-85BDC9FD1C3A}</a:tableStyleId>
              </a:tblPr>
              <a:tblGrid>
                <a:gridCol w="1561011">
                  <a:extLst>
                    <a:ext uri="{9D8B030D-6E8A-4147-A177-3AD203B41FA5}">
                      <a16:colId xmlns:a16="http://schemas.microsoft.com/office/drawing/2014/main" val="20000"/>
                    </a:ext>
                  </a:extLst>
                </a:gridCol>
                <a:gridCol w="1561011">
                  <a:extLst>
                    <a:ext uri="{9D8B030D-6E8A-4147-A177-3AD203B41FA5}">
                      <a16:colId xmlns:a16="http://schemas.microsoft.com/office/drawing/2014/main" val="20001"/>
                    </a:ext>
                  </a:extLst>
                </a:gridCol>
                <a:gridCol w="1561011">
                  <a:extLst>
                    <a:ext uri="{9D8B030D-6E8A-4147-A177-3AD203B41FA5}">
                      <a16:colId xmlns:a16="http://schemas.microsoft.com/office/drawing/2014/main" val="20002"/>
                    </a:ext>
                  </a:extLst>
                </a:gridCol>
                <a:gridCol w="1561011">
                  <a:extLst>
                    <a:ext uri="{9D8B030D-6E8A-4147-A177-3AD203B41FA5}">
                      <a16:colId xmlns:a16="http://schemas.microsoft.com/office/drawing/2014/main" val="20003"/>
                    </a:ext>
                  </a:extLst>
                </a:gridCol>
                <a:gridCol w="1561011">
                  <a:extLst>
                    <a:ext uri="{9D8B030D-6E8A-4147-A177-3AD203B41FA5}">
                      <a16:colId xmlns:a16="http://schemas.microsoft.com/office/drawing/2014/main" val="20004"/>
                    </a:ext>
                  </a:extLst>
                </a:gridCol>
                <a:gridCol w="1561011">
                  <a:extLst>
                    <a:ext uri="{9D8B030D-6E8A-4147-A177-3AD203B41FA5}">
                      <a16:colId xmlns:a16="http://schemas.microsoft.com/office/drawing/2014/main" val="20005"/>
                    </a:ext>
                  </a:extLst>
                </a:gridCol>
                <a:gridCol w="1561014">
                  <a:extLst>
                    <a:ext uri="{9D8B030D-6E8A-4147-A177-3AD203B41FA5}">
                      <a16:colId xmlns:a16="http://schemas.microsoft.com/office/drawing/2014/main" val="20006"/>
                    </a:ext>
                  </a:extLst>
                </a:gridCol>
              </a:tblGrid>
              <a:tr h="500000">
                <a:tc>
                  <a:txBody>
                    <a:bodyPr/>
                    <a:lstStyle/>
                    <a:p>
                      <a:pPr>
                        <a:defRPr sz="1400" b="1">
                          <a:latin typeface="Times New Roman"/>
                        </a:defRPr>
                      </a:pPr>
                      <a:r>
                        <a:t>S.No</a:t>
                      </a:r>
                    </a:p>
                  </a:txBody>
                  <a:tcPr/>
                </a:tc>
                <a:tc>
                  <a:txBody>
                    <a:bodyPr/>
                    <a:lstStyle/>
                    <a:p>
                      <a:pPr>
                        <a:defRPr sz="1400" b="1">
                          <a:latin typeface="Times New Roman"/>
                        </a:defRPr>
                      </a:pPr>
                      <a:r>
                        <a:t>Title</a:t>
                      </a:r>
                    </a:p>
                  </a:txBody>
                  <a:tcPr/>
                </a:tc>
                <a:tc>
                  <a:txBody>
                    <a:bodyPr/>
                    <a:lstStyle/>
                    <a:p>
                      <a:pPr>
                        <a:defRPr sz="1400" b="1">
                          <a:latin typeface="Times New Roman"/>
                        </a:defRPr>
                      </a:pPr>
                      <a:r>
                        <a:t>Author</a:t>
                      </a:r>
                    </a:p>
                  </a:txBody>
                  <a:tcPr/>
                </a:tc>
                <a:tc>
                  <a:txBody>
                    <a:bodyPr/>
                    <a:lstStyle/>
                    <a:p>
                      <a:pPr>
                        <a:defRPr sz="1400" b="1">
                          <a:latin typeface="Times New Roman"/>
                        </a:defRPr>
                      </a:pPr>
                      <a:r>
                        <a:t>Description</a:t>
                      </a:r>
                    </a:p>
                  </a:txBody>
                  <a:tcPr/>
                </a:tc>
                <a:tc>
                  <a:txBody>
                    <a:bodyPr/>
                    <a:lstStyle/>
                    <a:p>
                      <a:pPr>
                        <a:defRPr sz="1400" b="1">
                          <a:latin typeface="Times New Roman"/>
                        </a:defRPr>
                      </a:pPr>
                      <a:r>
                        <a:t>Year</a:t>
                      </a:r>
                    </a:p>
                  </a:txBody>
                  <a:tcPr/>
                </a:tc>
                <a:tc>
                  <a:txBody>
                    <a:bodyPr/>
                    <a:lstStyle/>
                    <a:p>
                      <a:pPr>
                        <a:defRPr sz="1400" b="1">
                          <a:latin typeface="Times New Roman"/>
                        </a:defRPr>
                      </a:pPr>
                      <a:r>
                        <a:t>Advantages</a:t>
                      </a:r>
                    </a:p>
                  </a:txBody>
                  <a:tcPr/>
                </a:tc>
                <a:tc>
                  <a:txBody>
                    <a:bodyPr/>
                    <a:lstStyle/>
                    <a:p>
                      <a:pPr>
                        <a:defRPr sz="1400" b="1">
                          <a:latin typeface="Times New Roman"/>
                        </a:defRPr>
                      </a:pPr>
                      <a:r>
                        <a:t>Disadvantages</a:t>
                      </a:r>
                    </a:p>
                  </a:txBody>
                  <a:tcPr/>
                </a:tc>
                <a:extLst>
                  <a:ext uri="{0D108BD9-81ED-4DB2-BD59-A6C34878D82A}">
                    <a16:rowId xmlns:a16="http://schemas.microsoft.com/office/drawing/2014/main" val="10000"/>
                  </a:ext>
                </a:extLst>
              </a:tr>
              <a:tr h="500000">
                <a:tc>
                  <a:txBody>
                    <a:bodyPr/>
                    <a:lstStyle/>
                    <a:p>
                      <a:pPr>
                        <a:defRPr sz="1400">
                          <a:latin typeface="Times New Roman"/>
                        </a:defRPr>
                      </a:pPr>
                      <a:r>
                        <a:t>7</a:t>
                      </a:r>
                    </a:p>
                  </a:txBody>
                  <a:tcPr/>
                </a:tc>
                <a:tc>
                  <a:txBody>
                    <a:bodyPr/>
                    <a:lstStyle/>
                    <a:p>
                      <a:pPr>
                        <a:defRPr sz="1400">
                          <a:latin typeface="Times New Roman"/>
                        </a:defRPr>
                      </a:pPr>
                      <a:r>
                        <a:t>Merkle Digital Signatures</a:t>
                      </a:r>
                    </a:p>
                  </a:txBody>
                  <a:tcPr/>
                </a:tc>
                <a:tc>
                  <a:txBody>
                    <a:bodyPr/>
                    <a:lstStyle/>
                    <a:p>
                      <a:pPr>
                        <a:defRPr sz="1400">
                          <a:latin typeface="Times New Roman"/>
                        </a:defRPr>
                      </a:pPr>
                      <a:r>
                        <a:t>Merkle, R. C.</a:t>
                      </a:r>
                    </a:p>
                  </a:txBody>
                  <a:tcPr/>
                </a:tc>
                <a:tc>
                  <a:txBody>
                    <a:bodyPr/>
                    <a:lstStyle/>
                    <a:p>
                      <a:pPr>
                        <a:defRPr sz="1400">
                          <a:latin typeface="Times New Roman"/>
                        </a:defRPr>
                      </a:pPr>
                      <a:r>
                        <a:t>Cryptographic hash tree verification</a:t>
                      </a:r>
                    </a:p>
                  </a:txBody>
                  <a:tcPr/>
                </a:tc>
                <a:tc>
                  <a:txBody>
                    <a:bodyPr/>
                    <a:lstStyle/>
                    <a:p>
                      <a:pPr>
                        <a:defRPr sz="1400">
                          <a:latin typeface="Times New Roman"/>
                        </a:defRPr>
                      </a:pPr>
                      <a:r>
                        <a:t>1987</a:t>
                      </a:r>
                    </a:p>
                  </a:txBody>
                  <a:tcPr/>
                </a:tc>
                <a:tc>
                  <a:txBody>
                    <a:bodyPr/>
                    <a:lstStyle/>
                    <a:p>
                      <a:pPr>
                        <a:defRPr sz="1400">
                          <a:latin typeface="Times New Roman"/>
                        </a:defRPr>
                      </a:pPr>
                      <a:r>
                        <a:t>Efficient verification</a:t>
                      </a:r>
                    </a:p>
                  </a:txBody>
                  <a:tcPr/>
                </a:tc>
                <a:tc>
                  <a:txBody>
                    <a:bodyPr/>
                    <a:lstStyle/>
                    <a:p>
                      <a:pPr>
                        <a:defRPr sz="1400">
                          <a:latin typeface="Times New Roman"/>
                        </a:defRPr>
                      </a:pPr>
                      <a:r>
                        <a:t>Storage overhead</a:t>
                      </a:r>
                    </a:p>
                  </a:txBody>
                  <a:tcPr/>
                </a:tc>
                <a:extLst>
                  <a:ext uri="{0D108BD9-81ED-4DB2-BD59-A6C34878D82A}">
                    <a16:rowId xmlns:a16="http://schemas.microsoft.com/office/drawing/2014/main" val="10001"/>
                  </a:ext>
                </a:extLst>
              </a:tr>
              <a:tr h="500000">
                <a:tc>
                  <a:txBody>
                    <a:bodyPr/>
                    <a:lstStyle/>
                    <a:p>
                      <a:pPr>
                        <a:defRPr sz="1400">
                          <a:latin typeface="Times New Roman"/>
                        </a:defRPr>
                      </a:pPr>
                      <a:r>
                        <a:t>8</a:t>
                      </a:r>
                    </a:p>
                  </a:txBody>
                  <a:tcPr/>
                </a:tc>
                <a:tc>
                  <a:txBody>
                    <a:bodyPr/>
                    <a:lstStyle/>
                    <a:p>
                      <a:pPr>
                        <a:defRPr sz="1400">
                          <a:latin typeface="Times New Roman"/>
                        </a:defRPr>
                      </a:pPr>
                      <a:r>
                        <a:t>Data Mining for Fraud</a:t>
                      </a:r>
                    </a:p>
                  </a:txBody>
                  <a:tcPr/>
                </a:tc>
                <a:tc>
                  <a:txBody>
                    <a:bodyPr/>
                    <a:lstStyle/>
                    <a:p>
                      <a:pPr>
                        <a:defRPr sz="1400">
                          <a:latin typeface="Times New Roman"/>
                        </a:defRPr>
                      </a:pPr>
                      <a:r>
                        <a:t>Bhattacharyya et al.</a:t>
                      </a:r>
                    </a:p>
                  </a:txBody>
                  <a:tcPr/>
                </a:tc>
                <a:tc>
                  <a:txBody>
                    <a:bodyPr/>
                    <a:lstStyle/>
                    <a:p>
                      <a:pPr>
                        <a:defRPr sz="1400">
                          <a:latin typeface="Times New Roman"/>
                        </a:defRPr>
                      </a:pPr>
                      <a:r>
                        <a:t>Statistical learning outperforms rule-based systems</a:t>
                      </a:r>
                    </a:p>
                  </a:txBody>
                  <a:tcPr/>
                </a:tc>
                <a:tc>
                  <a:txBody>
                    <a:bodyPr/>
                    <a:lstStyle/>
                    <a:p>
                      <a:pPr>
                        <a:defRPr sz="1400">
                          <a:latin typeface="Times New Roman"/>
                        </a:defRPr>
                      </a:pPr>
                      <a:r>
                        <a:t>2011</a:t>
                      </a:r>
                    </a:p>
                  </a:txBody>
                  <a:tcPr/>
                </a:tc>
                <a:tc>
                  <a:txBody>
                    <a:bodyPr/>
                    <a:lstStyle/>
                    <a:p>
                      <a:pPr>
                        <a:defRPr sz="1400">
                          <a:latin typeface="Times New Roman"/>
                        </a:defRPr>
                      </a:pPr>
                      <a:r>
                        <a:t>Empirical validation</a:t>
                      </a:r>
                    </a:p>
                  </a:txBody>
                  <a:tcPr/>
                </a:tc>
                <a:tc>
                  <a:txBody>
                    <a:bodyPr/>
                    <a:lstStyle/>
                    <a:p>
                      <a:pPr>
                        <a:defRPr sz="1400">
                          <a:latin typeface="Times New Roman"/>
                        </a:defRPr>
                      </a:pPr>
                      <a:r>
                        <a:t>Manual feature engineering</a:t>
                      </a:r>
                    </a:p>
                  </a:txBody>
                  <a:tcPr/>
                </a:tc>
                <a:extLst>
                  <a:ext uri="{0D108BD9-81ED-4DB2-BD59-A6C34878D82A}">
                    <a16:rowId xmlns:a16="http://schemas.microsoft.com/office/drawing/2014/main" val="10002"/>
                  </a:ext>
                </a:extLst>
              </a:tr>
              <a:tr h="500000">
                <a:tc>
                  <a:txBody>
                    <a:bodyPr/>
                    <a:lstStyle/>
                    <a:p>
                      <a:pPr>
                        <a:defRPr sz="1400">
                          <a:latin typeface="Times New Roman"/>
                        </a:defRPr>
                      </a:pPr>
                      <a:r>
                        <a:t>9</a:t>
                      </a:r>
                    </a:p>
                  </a:txBody>
                  <a:tcPr/>
                </a:tc>
                <a:tc>
                  <a:txBody>
                    <a:bodyPr/>
                    <a:lstStyle/>
                    <a:p>
                      <a:pPr>
                        <a:defRPr sz="1400">
                          <a:latin typeface="Times New Roman"/>
                        </a:defRPr>
                      </a:pPr>
                      <a:r>
                        <a:t>Zcash Protocol</a:t>
                      </a:r>
                    </a:p>
                  </a:txBody>
                  <a:tcPr/>
                </a:tc>
                <a:tc>
                  <a:txBody>
                    <a:bodyPr/>
                    <a:lstStyle/>
                    <a:p>
                      <a:pPr>
                        <a:defRPr sz="1400">
                          <a:latin typeface="Times New Roman"/>
                        </a:defRPr>
                      </a:pPr>
                      <a:r>
                        <a:t>Zcash Team</a:t>
                      </a:r>
                    </a:p>
                  </a:txBody>
                  <a:tcPr/>
                </a:tc>
                <a:tc>
                  <a:txBody>
                    <a:bodyPr/>
                    <a:lstStyle/>
                    <a:p>
                      <a:pPr>
                        <a:defRPr sz="1400">
                          <a:latin typeface="Times New Roman"/>
                        </a:defRPr>
                      </a:pPr>
                      <a:r>
                        <a:t>Zero-knowledge proofs for private transactions</a:t>
                      </a:r>
                    </a:p>
                  </a:txBody>
                  <a:tcPr/>
                </a:tc>
                <a:tc>
                  <a:txBody>
                    <a:bodyPr/>
                    <a:lstStyle/>
                    <a:p>
                      <a:pPr>
                        <a:defRPr sz="1400">
                          <a:latin typeface="Times New Roman"/>
                        </a:defRPr>
                      </a:pPr>
                      <a:r>
                        <a:t>2019</a:t>
                      </a:r>
                    </a:p>
                  </a:txBody>
                  <a:tcPr/>
                </a:tc>
                <a:tc>
                  <a:txBody>
                    <a:bodyPr/>
                    <a:lstStyle/>
                    <a:p>
                      <a:pPr>
                        <a:defRPr sz="1400">
                          <a:latin typeface="Times New Roman"/>
                        </a:defRPr>
                      </a:pPr>
                      <a:r>
                        <a:t>Privacy preservation</a:t>
                      </a:r>
                    </a:p>
                  </a:txBody>
                  <a:tcPr/>
                </a:tc>
                <a:tc>
                  <a:txBody>
                    <a:bodyPr/>
                    <a:lstStyle/>
                    <a:p>
                      <a:pPr>
                        <a:defRPr sz="1400">
                          <a:latin typeface="Times New Roman"/>
                        </a:defRPr>
                      </a:pPr>
                      <a:r>
                        <a:t>Complexity</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704088"/>
            <a:ext cx="10972800" cy="1143000"/>
          </a:xfrm>
          <a:prstGeom prst="rect">
            <a:avLst/>
          </a:prstGeom>
          <a:noFill/>
        </p:spPr>
        <p:txBody>
          <a:bodyPr wrap="square">
            <a:spAutoFit/>
          </a:bodyPr>
          <a:lstStyle/>
          <a:p>
            <a:pPr algn="r"/>
            <a:r>
              <a:rPr sz="4000" b="1">
                <a:solidFill>
                  <a:schemeClr val="tx2"/>
                </a:solidFill>
                <a:latin typeface="Times New Roman"/>
              </a:rPr>
              <a:t>CONTD...</a:t>
            </a:r>
          </a:p>
        </p:txBody>
      </p:sp>
      <p:graphicFrame>
        <p:nvGraphicFramePr>
          <p:cNvPr id="3" name="Table 2"/>
          <p:cNvGraphicFramePr>
            <a:graphicFrameLocks noGrp="1"/>
          </p:cNvGraphicFramePr>
          <p:nvPr/>
        </p:nvGraphicFramePr>
        <p:xfrm>
          <a:off x="768096" y="2039112"/>
          <a:ext cx="10927080" cy="2000000"/>
        </p:xfrm>
        <a:graphic>
          <a:graphicData uri="http://schemas.openxmlformats.org/drawingml/2006/table">
            <a:tbl>
              <a:tblPr firstRow="1" bandRow="1">
                <a:tableStyleId>{5C22544A-7EE6-4342-B048-85BDC9FD1C3A}</a:tableStyleId>
              </a:tblPr>
              <a:tblGrid>
                <a:gridCol w="1561011">
                  <a:extLst>
                    <a:ext uri="{9D8B030D-6E8A-4147-A177-3AD203B41FA5}">
                      <a16:colId xmlns:a16="http://schemas.microsoft.com/office/drawing/2014/main" val="20000"/>
                    </a:ext>
                  </a:extLst>
                </a:gridCol>
                <a:gridCol w="1561011">
                  <a:extLst>
                    <a:ext uri="{9D8B030D-6E8A-4147-A177-3AD203B41FA5}">
                      <a16:colId xmlns:a16="http://schemas.microsoft.com/office/drawing/2014/main" val="20001"/>
                    </a:ext>
                  </a:extLst>
                </a:gridCol>
                <a:gridCol w="1561011">
                  <a:extLst>
                    <a:ext uri="{9D8B030D-6E8A-4147-A177-3AD203B41FA5}">
                      <a16:colId xmlns:a16="http://schemas.microsoft.com/office/drawing/2014/main" val="20002"/>
                    </a:ext>
                  </a:extLst>
                </a:gridCol>
                <a:gridCol w="1561011">
                  <a:extLst>
                    <a:ext uri="{9D8B030D-6E8A-4147-A177-3AD203B41FA5}">
                      <a16:colId xmlns:a16="http://schemas.microsoft.com/office/drawing/2014/main" val="20003"/>
                    </a:ext>
                  </a:extLst>
                </a:gridCol>
                <a:gridCol w="1561011">
                  <a:extLst>
                    <a:ext uri="{9D8B030D-6E8A-4147-A177-3AD203B41FA5}">
                      <a16:colId xmlns:a16="http://schemas.microsoft.com/office/drawing/2014/main" val="20004"/>
                    </a:ext>
                  </a:extLst>
                </a:gridCol>
                <a:gridCol w="1561011">
                  <a:extLst>
                    <a:ext uri="{9D8B030D-6E8A-4147-A177-3AD203B41FA5}">
                      <a16:colId xmlns:a16="http://schemas.microsoft.com/office/drawing/2014/main" val="20005"/>
                    </a:ext>
                  </a:extLst>
                </a:gridCol>
                <a:gridCol w="1561014">
                  <a:extLst>
                    <a:ext uri="{9D8B030D-6E8A-4147-A177-3AD203B41FA5}">
                      <a16:colId xmlns:a16="http://schemas.microsoft.com/office/drawing/2014/main" val="20006"/>
                    </a:ext>
                  </a:extLst>
                </a:gridCol>
              </a:tblGrid>
              <a:tr h="500000">
                <a:tc>
                  <a:txBody>
                    <a:bodyPr/>
                    <a:lstStyle/>
                    <a:p>
                      <a:pPr>
                        <a:defRPr sz="1400" b="1">
                          <a:latin typeface="Times New Roman"/>
                        </a:defRPr>
                      </a:pPr>
                      <a:r>
                        <a:t>S.No</a:t>
                      </a:r>
                    </a:p>
                  </a:txBody>
                  <a:tcPr/>
                </a:tc>
                <a:tc>
                  <a:txBody>
                    <a:bodyPr/>
                    <a:lstStyle/>
                    <a:p>
                      <a:pPr>
                        <a:defRPr sz="1400" b="1">
                          <a:latin typeface="Times New Roman"/>
                        </a:defRPr>
                      </a:pPr>
                      <a:r>
                        <a:t>Title</a:t>
                      </a:r>
                    </a:p>
                  </a:txBody>
                  <a:tcPr/>
                </a:tc>
                <a:tc>
                  <a:txBody>
                    <a:bodyPr/>
                    <a:lstStyle/>
                    <a:p>
                      <a:pPr>
                        <a:defRPr sz="1400" b="1">
                          <a:latin typeface="Times New Roman"/>
                        </a:defRPr>
                      </a:pPr>
                      <a:r>
                        <a:t>Author</a:t>
                      </a:r>
                    </a:p>
                  </a:txBody>
                  <a:tcPr/>
                </a:tc>
                <a:tc>
                  <a:txBody>
                    <a:bodyPr/>
                    <a:lstStyle/>
                    <a:p>
                      <a:pPr>
                        <a:defRPr sz="1400" b="1">
                          <a:latin typeface="Times New Roman"/>
                        </a:defRPr>
                      </a:pPr>
                      <a:r>
                        <a:t>Description</a:t>
                      </a:r>
                    </a:p>
                  </a:txBody>
                  <a:tcPr/>
                </a:tc>
                <a:tc>
                  <a:txBody>
                    <a:bodyPr/>
                    <a:lstStyle/>
                    <a:p>
                      <a:pPr>
                        <a:defRPr sz="1400" b="1">
                          <a:latin typeface="Times New Roman"/>
                        </a:defRPr>
                      </a:pPr>
                      <a:r>
                        <a:t>Year</a:t>
                      </a:r>
                    </a:p>
                  </a:txBody>
                  <a:tcPr/>
                </a:tc>
                <a:tc>
                  <a:txBody>
                    <a:bodyPr/>
                    <a:lstStyle/>
                    <a:p>
                      <a:pPr>
                        <a:defRPr sz="1400" b="1">
                          <a:latin typeface="Times New Roman"/>
                        </a:defRPr>
                      </a:pPr>
                      <a:r>
                        <a:t>Advantages</a:t>
                      </a:r>
                    </a:p>
                  </a:txBody>
                  <a:tcPr/>
                </a:tc>
                <a:tc>
                  <a:txBody>
                    <a:bodyPr/>
                    <a:lstStyle/>
                    <a:p>
                      <a:pPr>
                        <a:defRPr sz="1400" b="1">
                          <a:latin typeface="Times New Roman"/>
                        </a:defRPr>
                      </a:pPr>
                      <a:r>
                        <a:t>Disadvantages</a:t>
                      </a:r>
                    </a:p>
                  </a:txBody>
                  <a:tcPr/>
                </a:tc>
                <a:extLst>
                  <a:ext uri="{0D108BD9-81ED-4DB2-BD59-A6C34878D82A}">
                    <a16:rowId xmlns:a16="http://schemas.microsoft.com/office/drawing/2014/main" val="10000"/>
                  </a:ext>
                </a:extLst>
              </a:tr>
              <a:tr h="500000">
                <a:tc>
                  <a:txBody>
                    <a:bodyPr/>
                    <a:lstStyle/>
                    <a:p>
                      <a:pPr>
                        <a:defRPr sz="1400">
                          <a:latin typeface="Times New Roman"/>
                        </a:defRPr>
                      </a:pPr>
                      <a:r>
                        <a:t>10</a:t>
                      </a:r>
                    </a:p>
                  </a:txBody>
                  <a:tcPr/>
                </a:tc>
                <a:tc>
                  <a:txBody>
                    <a:bodyPr/>
                    <a:lstStyle/>
                    <a:p>
                      <a:pPr>
                        <a:defRPr sz="1400">
                          <a:latin typeface="Times New Roman"/>
                        </a:defRPr>
                      </a:pPr>
                      <a:r>
                        <a:t>Hyperledger Fabric</a:t>
                      </a:r>
                    </a:p>
                  </a:txBody>
                  <a:tcPr/>
                </a:tc>
                <a:tc>
                  <a:txBody>
                    <a:bodyPr/>
                    <a:lstStyle/>
                    <a:p>
                      <a:pPr>
                        <a:defRPr sz="1400">
                          <a:latin typeface="Times New Roman"/>
                        </a:defRPr>
                      </a:pPr>
                      <a:r>
                        <a:t>Androulaki et al.</a:t>
                      </a:r>
                    </a:p>
                  </a:txBody>
                  <a:tcPr/>
                </a:tc>
                <a:tc>
                  <a:txBody>
                    <a:bodyPr/>
                    <a:lstStyle/>
                    <a:p>
                      <a:pPr>
                        <a:defRPr sz="1400">
                          <a:latin typeface="Times New Roman"/>
                        </a:defRPr>
                      </a:pPr>
                      <a:r>
                        <a:t>Permissioned enterprise blockchain</a:t>
                      </a:r>
                    </a:p>
                  </a:txBody>
                  <a:tcPr/>
                </a:tc>
                <a:tc>
                  <a:txBody>
                    <a:bodyPr/>
                    <a:lstStyle/>
                    <a:p>
                      <a:pPr>
                        <a:defRPr sz="1400">
                          <a:latin typeface="Times New Roman"/>
                        </a:defRPr>
                      </a:pPr>
                      <a:r>
                        <a:t>2018</a:t>
                      </a:r>
                    </a:p>
                  </a:txBody>
                  <a:tcPr/>
                </a:tc>
                <a:tc>
                  <a:txBody>
                    <a:bodyPr/>
                    <a:lstStyle/>
                    <a:p>
                      <a:pPr>
                        <a:defRPr sz="1400">
                          <a:latin typeface="Times New Roman"/>
                        </a:defRPr>
                      </a:pPr>
                      <a:r>
                        <a:t>High throughput</a:t>
                      </a:r>
                    </a:p>
                  </a:txBody>
                  <a:tcPr/>
                </a:tc>
                <a:tc>
                  <a:txBody>
                    <a:bodyPr/>
                    <a:lstStyle/>
                    <a:p>
                      <a:pPr>
                        <a:defRPr sz="1400">
                          <a:latin typeface="Times New Roman"/>
                        </a:defRPr>
                      </a:pPr>
                      <a:r>
                        <a:t>Enterprise-focused</a:t>
                      </a:r>
                    </a:p>
                  </a:txBody>
                  <a:tcPr/>
                </a:tc>
                <a:extLst>
                  <a:ext uri="{0D108BD9-81ED-4DB2-BD59-A6C34878D82A}">
                    <a16:rowId xmlns:a16="http://schemas.microsoft.com/office/drawing/2014/main" val="10001"/>
                  </a:ext>
                </a:extLst>
              </a:tr>
              <a:tr h="500000">
                <a:tc>
                  <a:txBody>
                    <a:bodyPr/>
                    <a:lstStyle/>
                    <a:p>
                      <a:pPr>
                        <a:defRPr sz="1400">
                          <a:latin typeface="Times New Roman"/>
                        </a:defRPr>
                      </a:pPr>
                      <a:r>
                        <a:t>11</a:t>
                      </a:r>
                    </a:p>
                  </a:txBody>
                  <a:tcPr/>
                </a:tc>
                <a:tc>
                  <a:txBody>
                    <a:bodyPr/>
                    <a:lstStyle/>
                    <a:p>
                      <a:pPr>
                        <a:defRPr sz="1400">
                          <a:latin typeface="Times New Roman"/>
                        </a:defRPr>
                      </a:pPr>
                      <a:r>
                        <a:t>Supervised Learning Comparison</a:t>
                      </a:r>
                    </a:p>
                  </a:txBody>
                  <a:tcPr/>
                </a:tc>
                <a:tc>
                  <a:txBody>
                    <a:bodyPr/>
                    <a:lstStyle/>
                    <a:p>
                      <a:pPr>
                        <a:defRPr sz="1400">
                          <a:latin typeface="Times New Roman"/>
                        </a:defRPr>
                      </a:pPr>
                      <a:r>
                        <a:t>Caruana et al.</a:t>
                      </a:r>
                    </a:p>
                  </a:txBody>
                  <a:tcPr/>
                </a:tc>
                <a:tc>
                  <a:txBody>
                    <a:bodyPr/>
                    <a:lstStyle/>
                    <a:p>
                      <a:pPr>
                        <a:defRPr sz="1400">
                          <a:latin typeface="Times New Roman"/>
                        </a:defRPr>
                      </a:pPr>
                      <a:r>
                        <a:t>Hybrid supervised+unsupervised superiority</a:t>
                      </a:r>
                    </a:p>
                  </a:txBody>
                  <a:tcPr/>
                </a:tc>
                <a:tc>
                  <a:txBody>
                    <a:bodyPr/>
                    <a:lstStyle/>
                    <a:p>
                      <a:pPr>
                        <a:defRPr sz="1400">
                          <a:latin typeface="Times New Roman"/>
                        </a:defRPr>
                      </a:pPr>
                      <a:r>
                        <a:t>2006</a:t>
                      </a:r>
                    </a:p>
                  </a:txBody>
                  <a:tcPr/>
                </a:tc>
                <a:tc>
                  <a:txBody>
                    <a:bodyPr/>
                    <a:lstStyle/>
                    <a:p>
                      <a:pPr>
                        <a:defRPr sz="1400">
                          <a:latin typeface="Times New Roman"/>
                        </a:defRPr>
                      </a:pPr>
                      <a:r>
                        <a:t>Empirical comparison</a:t>
                      </a:r>
                    </a:p>
                  </a:txBody>
                  <a:tcPr/>
                </a:tc>
                <a:tc>
                  <a:txBody>
                    <a:bodyPr/>
                    <a:lstStyle/>
                    <a:p>
                      <a:pPr>
                        <a:defRPr sz="1400">
                          <a:latin typeface="Times New Roman"/>
                        </a:defRPr>
                      </a:pPr>
                      <a:r>
                        <a:t>Limited scope</a:t>
                      </a:r>
                    </a:p>
                  </a:txBody>
                  <a:tcPr/>
                </a:tc>
                <a:extLst>
                  <a:ext uri="{0D108BD9-81ED-4DB2-BD59-A6C34878D82A}">
                    <a16:rowId xmlns:a16="http://schemas.microsoft.com/office/drawing/2014/main" val="10002"/>
                  </a:ext>
                </a:extLst>
              </a:tr>
              <a:tr h="500000">
                <a:tc>
                  <a:txBody>
                    <a:bodyPr/>
                    <a:lstStyle/>
                    <a:p>
                      <a:pPr>
                        <a:defRPr sz="1400">
                          <a:latin typeface="Times New Roman"/>
                        </a:defRPr>
                      </a:pPr>
                      <a:r>
                        <a:t>12</a:t>
                      </a:r>
                    </a:p>
                  </a:txBody>
                  <a:tcPr/>
                </a:tc>
                <a:tc>
                  <a:txBody>
                    <a:bodyPr/>
                    <a:lstStyle/>
                    <a:p>
                      <a:pPr>
                        <a:defRPr sz="1400">
                          <a:latin typeface="Times New Roman"/>
                        </a:defRPr>
                      </a:pPr>
                      <a:r>
                        <a:t>Zerocash: Anonymous Payments</a:t>
                      </a:r>
                    </a:p>
                  </a:txBody>
                  <a:tcPr/>
                </a:tc>
                <a:tc>
                  <a:txBody>
                    <a:bodyPr/>
                    <a:lstStyle/>
                    <a:p>
                      <a:pPr>
                        <a:defRPr sz="1400">
                          <a:latin typeface="Times New Roman"/>
                        </a:defRPr>
                      </a:pPr>
                      <a:r>
                        <a:t>Ben-Sasson et al.</a:t>
                      </a:r>
                    </a:p>
                  </a:txBody>
                  <a:tcPr/>
                </a:tc>
                <a:tc>
                  <a:txBody>
                    <a:bodyPr/>
                    <a:lstStyle/>
                    <a:p>
                      <a:pPr>
                        <a:defRPr sz="1400">
                          <a:latin typeface="Times New Roman"/>
                        </a:defRPr>
                      </a:pPr>
                      <a:r>
                        <a:t>zk-SNARKs for private blockchain</a:t>
                      </a:r>
                    </a:p>
                  </a:txBody>
                  <a:tcPr/>
                </a:tc>
                <a:tc>
                  <a:txBody>
                    <a:bodyPr/>
                    <a:lstStyle/>
                    <a:p>
                      <a:pPr>
                        <a:defRPr sz="1400">
                          <a:latin typeface="Times New Roman"/>
                        </a:defRPr>
                      </a:pPr>
                      <a:r>
                        <a:t>2014</a:t>
                      </a:r>
                    </a:p>
                  </a:txBody>
                  <a:tcPr/>
                </a:tc>
                <a:tc>
                  <a:txBody>
                    <a:bodyPr/>
                    <a:lstStyle/>
                    <a:p>
                      <a:pPr>
                        <a:defRPr sz="1400">
                          <a:latin typeface="Times New Roman"/>
                        </a:defRPr>
                      </a:pPr>
                      <a:r>
                        <a:t>Strong privacy</a:t>
                      </a:r>
                    </a:p>
                  </a:txBody>
                  <a:tcPr/>
                </a:tc>
                <a:tc>
                  <a:txBody>
                    <a:bodyPr/>
                    <a:lstStyle/>
                    <a:p>
                      <a:pPr>
                        <a:defRPr sz="1400">
                          <a:latin typeface="Times New Roman"/>
                        </a:defRPr>
                      </a:pPr>
                      <a:r>
                        <a:t>Computational cost</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704088"/>
            <a:ext cx="10972800" cy="1143000"/>
          </a:xfrm>
          <a:prstGeom prst="rect">
            <a:avLst/>
          </a:prstGeom>
          <a:noFill/>
        </p:spPr>
        <p:txBody>
          <a:bodyPr wrap="square">
            <a:spAutoFit/>
          </a:bodyPr>
          <a:lstStyle/>
          <a:p>
            <a:pPr algn="r"/>
            <a:r>
              <a:rPr sz="4000" b="1">
                <a:solidFill>
                  <a:schemeClr val="tx2"/>
                </a:solidFill>
                <a:latin typeface="Times New Roman"/>
              </a:rPr>
              <a:t>CONTD...</a:t>
            </a:r>
          </a:p>
        </p:txBody>
      </p:sp>
      <p:graphicFrame>
        <p:nvGraphicFramePr>
          <p:cNvPr id="3" name="Table 2"/>
          <p:cNvGraphicFramePr>
            <a:graphicFrameLocks noGrp="1"/>
          </p:cNvGraphicFramePr>
          <p:nvPr/>
        </p:nvGraphicFramePr>
        <p:xfrm>
          <a:off x="768096" y="2039112"/>
          <a:ext cx="10927080" cy="2000000"/>
        </p:xfrm>
        <a:graphic>
          <a:graphicData uri="http://schemas.openxmlformats.org/drawingml/2006/table">
            <a:tbl>
              <a:tblPr firstRow="1" bandRow="1">
                <a:tableStyleId>{5C22544A-7EE6-4342-B048-85BDC9FD1C3A}</a:tableStyleId>
              </a:tblPr>
              <a:tblGrid>
                <a:gridCol w="1561011">
                  <a:extLst>
                    <a:ext uri="{9D8B030D-6E8A-4147-A177-3AD203B41FA5}">
                      <a16:colId xmlns:a16="http://schemas.microsoft.com/office/drawing/2014/main" val="20000"/>
                    </a:ext>
                  </a:extLst>
                </a:gridCol>
                <a:gridCol w="1561011">
                  <a:extLst>
                    <a:ext uri="{9D8B030D-6E8A-4147-A177-3AD203B41FA5}">
                      <a16:colId xmlns:a16="http://schemas.microsoft.com/office/drawing/2014/main" val="20001"/>
                    </a:ext>
                  </a:extLst>
                </a:gridCol>
                <a:gridCol w="1561011">
                  <a:extLst>
                    <a:ext uri="{9D8B030D-6E8A-4147-A177-3AD203B41FA5}">
                      <a16:colId xmlns:a16="http://schemas.microsoft.com/office/drawing/2014/main" val="20002"/>
                    </a:ext>
                  </a:extLst>
                </a:gridCol>
                <a:gridCol w="1561011">
                  <a:extLst>
                    <a:ext uri="{9D8B030D-6E8A-4147-A177-3AD203B41FA5}">
                      <a16:colId xmlns:a16="http://schemas.microsoft.com/office/drawing/2014/main" val="20003"/>
                    </a:ext>
                  </a:extLst>
                </a:gridCol>
                <a:gridCol w="1561011">
                  <a:extLst>
                    <a:ext uri="{9D8B030D-6E8A-4147-A177-3AD203B41FA5}">
                      <a16:colId xmlns:a16="http://schemas.microsoft.com/office/drawing/2014/main" val="20004"/>
                    </a:ext>
                  </a:extLst>
                </a:gridCol>
                <a:gridCol w="1561011">
                  <a:extLst>
                    <a:ext uri="{9D8B030D-6E8A-4147-A177-3AD203B41FA5}">
                      <a16:colId xmlns:a16="http://schemas.microsoft.com/office/drawing/2014/main" val="20005"/>
                    </a:ext>
                  </a:extLst>
                </a:gridCol>
                <a:gridCol w="1561014">
                  <a:extLst>
                    <a:ext uri="{9D8B030D-6E8A-4147-A177-3AD203B41FA5}">
                      <a16:colId xmlns:a16="http://schemas.microsoft.com/office/drawing/2014/main" val="20006"/>
                    </a:ext>
                  </a:extLst>
                </a:gridCol>
              </a:tblGrid>
              <a:tr h="500000">
                <a:tc>
                  <a:txBody>
                    <a:bodyPr/>
                    <a:lstStyle/>
                    <a:p>
                      <a:pPr>
                        <a:defRPr sz="1400" b="1">
                          <a:latin typeface="Times New Roman"/>
                        </a:defRPr>
                      </a:pPr>
                      <a:r>
                        <a:t>S.No</a:t>
                      </a:r>
                    </a:p>
                  </a:txBody>
                  <a:tcPr/>
                </a:tc>
                <a:tc>
                  <a:txBody>
                    <a:bodyPr/>
                    <a:lstStyle/>
                    <a:p>
                      <a:pPr>
                        <a:defRPr sz="1400" b="1">
                          <a:latin typeface="Times New Roman"/>
                        </a:defRPr>
                      </a:pPr>
                      <a:r>
                        <a:t>Title</a:t>
                      </a:r>
                    </a:p>
                  </a:txBody>
                  <a:tcPr/>
                </a:tc>
                <a:tc>
                  <a:txBody>
                    <a:bodyPr/>
                    <a:lstStyle/>
                    <a:p>
                      <a:pPr>
                        <a:defRPr sz="1400" b="1">
                          <a:latin typeface="Times New Roman"/>
                        </a:defRPr>
                      </a:pPr>
                      <a:r>
                        <a:t>Author</a:t>
                      </a:r>
                    </a:p>
                  </a:txBody>
                  <a:tcPr/>
                </a:tc>
                <a:tc>
                  <a:txBody>
                    <a:bodyPr/>
                    <a:lstStyle/>
                    <a:p>
                      <a:pPr>
                        <a:defRPr sz="1400" b="1">
                          <a:latin typeface="Times New Roman"/>
                        </a:defRPr>
                      </a:pPr>
                      <a:r>
                        <a:t>Description</a:t>
                      </a:r>
                    </a:p>
                  </a:txBody>
                  <a:tcPr/>
                </a:tc>
                <a:tc>
                  <a:txBody>
                    <a:bodyPr/>
                    <a:lstStyle/>
                    <a:p>
                      <a:pPr>
                        <a:defRPr sz="1400" b="1">
                          <a:latin typeface="Times New Roman"/>
                        </a:defRPr>
                      </a:pPr>
                      <a:r>
                        <a:t>Year</a:t>
                      </a:r>
                    </a:p>
                  </a:txBody>
                  <a:tcPr/>
                </a:tc>
                <a:tc>
                  <a:txBody>
                    <a:bodyPr/>
                    <a:lstStyle/>
                    <a:p>
                      <a:pPr>
                        <a:defRPr sz="1400" b="1">
                          <a:latin typeface="Times New Roman"/>
                        </a:defRPr>
                      </a:pPr>
                      <a:r>
                        <a:t>Advantages</a:t>
                      </a:r>
                    </a:p>
                  </a:txBody>
                  <a:tcPr/>
                </a:tc>
                <a:tc>
                  <a:txBody>
                    <a:bodyPr/>
                    <a:lstStyle/>
                    <a:p>
                      <a:pPr>
                        <a:defRPr sz="1400" b="1">
                          <a:latin typeface="Times New Roman"/>
                        </a:defRPr>
                      </a:pPr>
                      <a:r>
                        <a:t>Disadvantages</a:t>
                      </a:r>
                    </a:p>
                  </a:txBody>
                  <a:tcPr/>
                </a:tc>
                <a:extLst>
                  <a:ext uri="{0D108BD9-81ED-4DB2-BD59-A6C34878D82A}">
                    <a16:rowId xmlns:a16="http://schemas.microsoft.com/office/drawing/2014/main" val="10000"/>
                  </a:ext>
                </a:extLst>
              </a:tr>
              <a:tr h="500000">
                <a:tc>
                  <a:txBody>
                    <a:bodyPr/>
                    <a:lstStyle/>
                    <a:p>
                      <a:pPr>
                        <a:defRPr sz="1400">
                          <a:latin typeface="Times New Roman"/>
                        </a:defRPr>
                      </a:pPr>
                      <a:r>
                        <a:t>13</a:t>
                      </a:r>
                    </a:p>
                  </a:txBody>
                  <a:tcPr/>
                </a:tc>
                <a:tc>
                  <a:txBody>
                    <a:bodyPr/>
                    <a:lstStyle/>
                    <a:p>
                      <a:pPr>
                        <a:defRPr sz="1400">
                          <a:latin typeface="Times New Roman"/>
                        </a:defRPr>
                      </a:pPr>
                      <a:r>
                        <a:t>XGBoost</a:t>
                      </a:r>
                    </a:p>
                  </a:txBody>
                  <a:tcPr/>
                </a:tc>
                <a:tc>
                  <a:txBody>
                    <a:bodyPr/>
                    <a:lstStyle/>
                    <a:p>
                      <a:pPr>
                        <a:defRPr sz="1400">
                          <a:latin typeface="Times New Roman"/>
                        </a:defRPr>
                      </a:pPr>
                      <a:r>
                        <a:t>Chen &amp; Guestrin</a:t>
                      </a:r>
                    </a:p>
                  </a:txBody>
                  <a:tcPr/>
                </a:tc>
                <a:tc>
                  <a:txBody>
                    <a:bodyPr/>
                    <a:lstStyle/>
                    <a:p>
                      <a:pPr>
                        <a:defRPr sz="1400">
                          <a:latin typeface="Times New Roman"/>
                        </a:defRPr>
                      </a:pPr>
                      <a:r>
                        <a:t>Gradient boosted trees for classification</a:t>
                      </a:r>
                    </a:p>
                  </a:txBody>
                  <a:tcPr/>
                </a:tc>
                <a:tc>
                  <a:txBody>
                    <a:bodyPr/>
                    <a:lstStyle/>
                    <a:p>
                      <a:pPr>
                        <a:defRPr sz="1400">
                          <a:latin typeface="Times New Roman"/>
                        </a:defRPr>
                      </a:pPr>
                      <a:r>
                        <a:t>2016</a:t>
                      </a:r>
                    </a:p>
                  </a:txBody>
                  <a:tcPr/>
                </a:tc>
                <a:tc>
                  <a:txBody>
                    <a:bodyPr/>
                    <a:lstStyle/>
                    <a:p>
                      <a:pPr>
                        <a:defRPr sz="1400">
                          <a:latin typeface="Times New Roman"/>
                        </a:defRPr>
                      </a:pPr>
                      <a:r>
                        <a:t>State-of-art AUC</a:t>
                      </a:r>
                    </a:p>
                  </a:txBody>
                  <a:tcPr/>
                </a:tc>
                <a:tc>
                  <a:txBody>
                    <a:bodyPr/>
                    <a:lstStyle/>
                    <a:p>
                      <a:pPr>
                        <a:defRPr sz="1400">
                          <a:latin typeface="Times New Roman"/>
                        </a:defRPr>
                      </a:pPr>
                      <a:r>
                        <a:t>Hyperparameter tuning</a:t>
                      </a:r>
                    </a:p>
                  </a:txBody>
                  <a:tcPr/>
                </a:tc>
                <a:extLst>
                  <a:ext uri="{0D108BD9-81ED-4DB2-BD59-A6C34878D82A}">
                    <a16:rowId xmlns:a16="http://schemas.microsoft.com/office/drawing/2014/main" val="10001"/>
                  </a:ext>
                </a:extLst>
              </a:tr>
              <a:tr h="500000">
                <a:tc>
                  <a:txBody>
                    <a:bodyPr/>
                    <a:lstStyle/>
                    <a:p>
                      <a:pPr>
                        <a:defRPr sz="1400">
                          <a:latin typeface="Times New Roman"/>
                        </a:defRPr>
                      </a:pPr>
                      <a:r>
                        <a:t>14</a:t>
                      </a:r>
                    </a:p>
                  </a:txBody>
                  <a:tcPr/>
                </a:tc>
                <a:tc>
                  <a:txBody>
                    <a:bodyPr/>
                    <a:lstStyle/>
                    <a:p>
                      <a:pPr>
                        <a:defRPr sz="1400">
                          <a:latin typeface="Times New Roman"/>
                        </a:defRPr>
                      </a:pPr>
                      <a:r>
                        <a:t>SMOTE</a:t>
                      </a:r>
                    </a:p>
                  </a:txBody>
                  <a:tcPr/>
                </a:tc>
                <a:tc>
                  <a:txBody>
                    <a:bodyPr/>
                    <a:lstStyle/>
                    <a:p>
                      <a:pPr>
                        <a:defRPr sz="1400">
                          <a:latin typeface="Times New Roman"/>
                        </a:defRPr>
                      </a:pPr>
                      <a:r>
                        <a:t>Chawla et al.</a:t>
                      </a:r>
                    </a:p>
                  </a:txBody>
                  <a:tcPr/>
                </a:tc>
                <a:tc>
                  <a:txBody>
                    <a:bodyPr/>
                    <a:lstStyle/>
                    <a:p>
                      <a:pPr>
                        <a:defRPr sz="1400">
                          <a:latin typeface="Times New Roman"/>
                        </a:defRPr>
                      </a:pPr>
                      <a:r>
                        <a:t>Synthetic oversampling for minority classes</a:t>
                      </a:r>
                    </a:p>
                  </a:txBody>
                  <a:tcPr/>
                </a:tc>
                <a:tc>
                  <a:txBody>
                    <a:bodyPr/>
                    <a:lstStyle/>
                    <a:p>
                      <a:pPr>
                        <a:defRPr sz="1400">
                          <a:latin typeface="Times New Roman"/>
                        </a:defRPr>
                      </a:pPr>
                      <a:r>
                        <a:t>2002</a:t>
                      </a:r>
                    </a:p>
                  </a:txBody>
                  <a:tcPr/>
                </a:tc>
                <a:tc>
                  <a:txBody>
                    <a:bodyPr/>
                    <a:lstStyle/>
                    <a:p>
                      <a:pPr>
                        <a:defRPr sz="1400">
                          <a:latin typeface="Times New Roman"/>
                        </a:defRPr>
                      </a:pPr>
                      <a:r>
                        <a:t>Balances dataset</a:t>
                      </a:r>
                    </a:p>
                  </a:txBody>
                  <a:tcPr/>
                </a:tc>
                <a:tc>
                  <a:txBody>
                    <a:bodyPr/>
                    <a:lstStyle/>
                    <a:p>
                      <a:pPr>
                        <a:defRPr sz="1400">
                          <a:latin typeface="Times New Roman"/>
                        </a:defRPr>
                      </a:pPr>
                      <a:r>
                        <a:t>May introduce noise</a:t>
                      </a:r>
                    </a:p>
                  </a:txBody>
                  <a:tcPr/>
                </a:tc>
                <a:extLst>
                  <a:ext uri="{0D108BD9-81ED-4DB2-BD59-A6C34878D82A}">
                    <a16:rowId xmlns:a16="http://schemas.microsoft.com/office/drawing/2014/main" val="10002"/>
                  </a:ext>
                </a:extLst>
              </a:tr>
              <a:tr h="500000">
                <a:tc>
                  <a:txBody>
                    <a:bodyPr/>
                    <a:lstStyle/>
                    <a:p>
                      <a:pPr>
                        <a:defRPr sz="1400">
                          <a:latin typeface="Times New Roman"/>
                        </a:defRPr>
                      </a:pPr>
                      <a:r>
                        <a:t>15</a:t>
                      </a:r>
                    </a:p>
                  </a:txBody>
                  <a:tcPr/>
                </a:tc>
                <a:tc>
                  <a:txBody>
                    <a:bodyPr/>
                    <a:lstStyle/>
                    <a:p>
                      <a:pPr>
                        <a:defRPr sz="1400">
                          <a:latin typeface="Times New Roman"/>
                        </a:defRPr>
                      </a:pPr>
                      <a:r>
                        <a:t>Smart Contracts</a:t>
                      </a:r>
                    </a:p>
                  </a:txBody>
                  <a:tcPr/>
                </a:tc>
                <a:tc>
                  <a:txBody>
                    <a:bodyPr/>
                    <a:lstStyle/>
                    <a:p>
                      <a:pPr>
                        <a:defRPr sz="1400">
                          <a:latin typeface="Times New Roman"/>
                        </a:defRPr>
                      </a:pPr>
                      <a:r>
                        <a:t>Szabo, N.</a:t>
                      </a:r>
                    </a:p>
                  </a:txBody>
                  <a:tcPr/>
                </a:tc>
                <a:tc>
                  <a:txBody>
                    <a:bodyPr/>
                    <a:lstStyle/>
                    <a:p>
                      <a:pPr>
                        <a:defRPr sz="1400">
                          <a:latin typeface="Times New Roman"/>
                        </a:defRPr>
                      </a:pPr>
                      <a:r>
                        <a:t>Formalized computerized protocol execution</a:t>
                      </a:r>
                    </a:p>
                  </a:txBody>
                  <a:tcPr/>
                </a:tc>
                <a:tc>
                  <a:txBody>
                    <a:bodyPr/>
                    <a:lstStyle/>
                    <a:p>
                      <a:pPr>
                        <a:defRPr sz="1400">
                          <a:latin typeface="Times New Roman"/>
                        </a:defRPr>
                      </a:pPr>
                      <a:r>
                        <a:t>1997</a:t>
                      </a:r>
                    </a:p>
                  </a:txBody>
                  <a:tcPr/>
                </a:tc>
                <a:tc>
                  <a:txBody>
                    <a:bodyPr/>
                    <a:lstStyle/>
                    <a:p>
                      <a:pPr>
                        <a:defRPr sz="1400">
                          <a:latin typeface="Times New Roman"/>
                        </a:defRPr>
                      </a:pPr>
                      <a:r>
                        <a:t>Automated agreement</a:t>
                      </a:r>
                    </a:p>
                  </a:txBody>
                  <a:tcPr/>
                </a:tc>
                <a:tc>
                  <a:txBody>
                    <a:bodyPr/>
                    <a:lstStyle/>
                    <a:p>
                      <a:pPr>
                        <a:defRPr sz="1400">
                          <a:latin typeface="Times New Roman"/>
                        </a:defRPr>
                      </a:pPr>
                      <a:r>
                        <a:t>Theoretical only</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704088"/>
            <a:ext cx="10972800" cy="1143000"/>
          </a:xfrm>
          <a:prstGeom prst="rect">
            <a:avLst/>
          </a:prstGeom>
          <a:noFill/>
        </p:spPr>
        <p:txBody>
          <a:bodyPr wrap="square">
            <a:spAutoFit/>
          </a:bodyPr>
          <a:lstStyle/>
          <a:p>
            <a:pPr algn="l"/>
            <a:r>
              <a:rPr sz="3200" b="1">
                <a:solidFill>
                  <a:schemeClr val="tx2"/>
                </a:solidFill>
                <a:latin typeface="Times New Roman"/>
              </a:rPr>
              <a:t>ANALYSIS &amp; EXPLANATION OF PROBLEM IDENTIFIED</a:t>
            </a:r>
          </a:p>
        </p:txBody>
      </p:sp>
      <p:sp>
        <p:nvSpPr>
          <p:cNvPr id="3" name="TextBox 2"/>
          <p:cNvSpPr txBox="1"/>
          <p:nvPr/>
        </p:nvSpPr>
        <p:spPr>
          <a:xfrm>
            <a:off x="609600" y="1935480"/>
            <a:ext cx="10972800" cy="4170372"/>
          </a:xfrm>
          <a:prstGeom prst="rect">
            <a:avLst/>
          </a:prstGeom>
          <a:noFill/>
        </p:spPr>
        <p:txBody>
          <a:bodyPr wrap="square" lIns="91440" tIns="45720" rIns="91440" bIns="45720" anchor="t">
            <a:spAutoFit/>
          </a:bodyPr>
          <a:lstStyle/>
          <a:p>
            <a:pPr algn="just">
              <a:spcAft>
                <a:spcPts val="600"/>
              </a:spcAft>
            </a:pPr>
            <a:r>
              <a:rPr sz="2500" b="0" dirty="0">
                <a:latin typeface="Times New Roman"/>
              </a:rPr>
              <a:t>Centralized banking architectures rely on opaque ML black boxes paired with mutable database ledgers—compliance officers cannot understand why transactions are blocked.</a:t>
            </a:r>
          </a:p>
          <a:p>
            <a:pPr algn="just">
              <a:spcAft>
                <a:spcPts val="600"/>
              </a:spcAft>
            </a:pPr>
            <a:r>
              <a:rPr sz="2500" b="0" dirty="0">
                <a:latin typeface="Times New Roman"/>
              </a:rPr>
              <a:t>Centralized database logs are vulnerable to internal tampering, unauthorized audit manipulation, and single-point-of-failure attacks.</a:t>
            </a:r>
            <a:endParaRPr sz="2500" b="0" dirty="0">
              <a:latin typeface="Times New Roman"/>
              <a:cs typeface="Times New Roman"/>
            </a:endParaRPr>
          </a:p>
          <a:p>
            <a:pPr algn="just">
              <a:spcAft>
                <a:spcPts val="600"/>
              </a:spcAft>
            </a:pPr>
            <a:r>
              <a:rPr sz="2500" b="0" dirty="0">
                <a:latin typeface="Times New Roman"/>
              </a:rPr>
              <a:t>Legacy rule-based fraud screening uses static thresholds that fail against modern adversarial patterns: Card-Not-Present fraud, Account Takeover, and automated micro-transaction probing.</a:t>
            </a:r>
            <a:endParaRPr sz="2500" b="0" dirty="0">
              <a:latin typeface="Times New Roman"/>
              <a:cs typeface="Times New Roman"/>
            </a:endParaRPr>
          </a:p>
          <a:p>
            <a:pPr algn="just">
              <a:spcAft>
                <a:spcPts val="600"/>
              </a:spcAft>
            </a:pPr>
            <a:r>
              <a:rPr sz="2500" b="0" dirty="0">
                <a:latin typeface="Times New Roman"/>
              </a:rPr>
              <a:t>Existing systems lack automated dispute recovery—cardholders must undergo manual phone verification for false-positive blocks.</a:t>
            </a:r>
            <a:endParaRPr sz="2500" b="0" dirty="0">
              <a:latin typeface="Times New Roman"/>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704088"/>
            <a:ext cx="10972800" cy="1143000"/>
          </a:xfrm>
          <a:prstGeom prst="rect">
            <a:avLst/>
          </a:prstGeom>
          <a:noFill/>
        </p:spPr>
        <p:txBody>
          <a:bodyPr wrap="square">
            <a:spAutoFit/>
          </a:bodyPr>
          <a:lstStyle/>
          <a:p>
            <a:pPr algn="l"/>
            <a:r>
              <a:rPr sz="4000" b="1">
                <a:solidFill>
                  <a:schemeClr val="tx2"/>
                </a:solidFill>
                <a:latin typeface="Times New Roman"/>
              </a:rPr>
              <a:t>Existing System</a:t>
            </a:r>
          </a:p>
        </p:txBody>
      </p:sp>
      <p:sp>
        <p:nvSpPr>
          <p:cNvPr id="3" name="TextBox 2"/>
          <p:cNvSpPr txBox="1"/>
          <p:nvPr/>
        </p:nvSpPr>
        <p:spPr>
          <a:xfrm>
            <a:off x="609600" y="1935480"/>
            <a:ext cx="10972800" cy="4093428"/>
          </a:xfrm>
          <a:prstGeom prst="rect">
            <a:avLst/>
          </a:prstGeom>
          <a:noFill/>
        </p:spPr>
        <p:txBody>
          <a:bodyPr wrap="square" lIns="91440" tIns="45720" rIns="91440" bIns="45720" anchor="t">
            <a:spAutoFit/>
          </a:bodyPr>
          <a:lstStyle/>
          <a:p>
            <a:pPr algn="just">
              <a:spcAft>
                <a:spcPts val="600"/>
              </a:spcAft>
            </a:pPr>
            <a:r>
              <a:rPr sz="2400" b="0" dirty="0">
                <a:latin typeface="Times New Roman"/>
              </a:rPr>
              <a:t>Commercial fraud detection software focuses on classification while treating database logging as a separate concern, requiring manual SOC correlation during incidents.</a:t>
            </a:r>
          </a:p>
          <a:p>
            <a:pPr algn="just">
              <a:spcAft>
                <a:spcPts val="600"/>
              </a:spcAft>
            </a:pPr>
            <a:r>
              <a:rPr sz="2400" b="0" dirty="0">
                <a:latin typeface="Times New Roman"/>
              </a:rPr>
              <a:t>Traditional SQL databases lack cryptographic non-repudiation—audit trails rely on trust in database administrators rather than mathematical proof.</a:t>
            </a:r>
            <a:endParaRPr sz="2400" b="0" dirty="0">
              <a:latin typeface="Times New Roman"/>
              <a:cs typeface="Times New Roman"/>
            </a:endParaRPr>
          </a:p>
          <a:p>
            <a:pPr algn="just">
              <a:spcAft>
                <a:spcPts val="600"/>
              </a:spcAft>
            </a:pPr>
            <a:r>
              <a:rPr sz="2400" b="0" dirty="0">
                <a:latin typeface="Times New Roman"/>
              </a:rPr>
              <a:t>ML classifiers operate as black boxes, returning arbitrary risk scores without feature-level explanations, violating GDPR's Right to Explanation.</a:t>
            </a:r>
            <a:endParaRPr sz="2400" b="0" dirty="0">
              <a:latin typeface="Times New Roman"/>
              <a:cs typeface="Times New Roman"/>
            </a:endParaRPr>
          </a:p>
          <a:p>
            <a:pPr algn="just">
              <a:spcAft>
                <a:spcPts val="600"/>
              </a:spcAft>
            </a:pPr>
            <a:r>
              <a:rPr sz="2400" dirty="0">
                <a:latin typeface="Times New Roman"/>
              </a:rPr>
              <a:t>No Automated Dispute Recovery: Manual phone verification processes cause significant cardholder friction and delayed resolution.</a:t>
            </a:r>
            <a:endParaRPr sz="2400" dirty="0">
              <a:latin typeface="Times New Roman"/>
              <a:cs typeface="Times New Roman"/>
            </a:endParaRPr>
          </a:p>
          <a:p>
            <a:pPr algn="just">
              <a:spcAft>
                <a:spcPts val="600"/>
              </a:spcAft>
            </a:pPr>
            <a:r>
              <a:rPr sz="2400" dirty="0">
                <a:latin typeface="Times New Roman"/>
              </a:rPr>
              <a:t>Centralized Database Vulnerability: Single-point-of-failure risks from monolithic database architectures without privilege separation.</a:t>
            </a:r>
            <a:endParaRPr sz="2400" dirty="0">
              <a:latin typeface="Times New Roman"/>
              <a:cs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704088"/>
            <a:ext cx="10972800" cy="1143000"/>
          </a:xfrm>
          <a:prstGeom prst="rect">
            <a:avLst/>
          </a:prstGeom>
          <a:noFill/>
        </p:spPr>
        <p:txBody>
          <a:bodyPr wrap="square">
            <a:spAutoFit/>
          </a:bodyPr>
          <a:lstStyle/>
          <a:p>
            <a:pPr algn="l"/>
            <a:r>
              <a:rPr sz="4000" b="1">
                <a:solidFill>
                  <a:schemeClr val="tx2"/>
                </a:solidFill>
                <a:latin typeface="Times New Roman"/>
              </a:rPr>
              <a:t>Proposed System</a:t>
            </a:r>
          </a:p>
        </p:txBody>
      </p:sp>
      <p:sp>
        <p:nvSpPr>
          <p:cNvPr id="3" name="TextBox 2"/>
          <p:cNvSpPr txBox="1"/>
          <p:nvPr/>
        </p:nvSpPr>
        <p:spPr>
          <a:xfrm>
            <a:off x="609600" y="1935480"/>
            <a:ext cx="10972800" cy="4389120"/>
          </a:xfrm>
          <a:prstGeom prst="rect">
            <a:avLst/>
          </a:prstGeom>
          <a:noFill/>
        </p:spPr>
        <p:txBody>
          <a:bodyPr wrap="square">
            <a:spAutoFit/>
          </a:bodyPr>
          <a:lstStyle/>
          <a:p>
            <a:pPr algn="just">
              <a:spcAft>
                <a:spcPts val="600"/>
              </a:spcAft>
            </a:pPr>
            <a:r>
              <a:rPr sz="2400" b="0">
                <a:latin typeface="Times New Roman"/>
              </a:rPr>
              <a:t>Dual-engine ML combining Random Forest (70% weight) and Isolation Forest (30% weight) for hybrid supervised-unsupervised fraud detection.</a:t>
            </a:r>
          </a:p>
          <a:p>
            <a:pPr algn="just">
              <a:spcAft>
                <a:spcPts val="600"/>
              </a:spcAft>
            </a:pPr>
            <a:r>
              <a:rPr sz="2400" b="0">
                <a:latin typeface="Times New Roman"/>
              </a:rPr>
              <a:t>SHAP TreeExplainer generates exact Shapley values for every flagged transaction, surfacing top contributing features like location velocity and transaction amount.</a:t>
            </a:r>
          </a:p>
          <a:p>
            <a:pPr algn="just">
              <a:spcAft>
                <a:spcPts val="600"/>
              </a:spcAft>
            </a:pPr>
            <a:r>
              <a:rPr sz="2400" b="0">
                <a:latin typeface="Times New Roman"/>
              </a:rPr>
              <a:t>Permissioned SHA-256 Merkle tree blockchain with Raft consensus achieving sub-20ms latency and zero transaction fees.</a:t>
            </a:r>
          </a:p>
          <a:p>
            <a:pPr algn="just">
              <a:spcAft>
                <a:spcPts val="600"/>
              </a:spcAft>
            </a:pPr>
            <a:r>
              <a:rPr sz="2400" b="0">
                <a:latin typeface="Times New Roman"/>
              </a:rPr>
              <a:t>Triple-database isolation separating core banking, SOC telemetry, and blockchain ledger data to eliminate single-point-of-failure risks.</a:t>
            </a:r>
          </a:p>
          <a:p>
            <a:pPr algn="just">
              <a:spcAft>
                <a:spcPts val="600"/>
              </a:spcAft>
            </a:pPr>
            <a:r>
              <a:rPr sz="2400" b="0">
                <a:latin typeface="Times New Roman"/>
              </a:rPr>
              <a:t>Smart contract FSM for automated dispute recovery with 15-minute MFA challenge windows.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704088"/>
            <a:ext cx="10972800" cy="1143000"/>
          </a:xfrm>
          <a:prstGeom prst="rect">
            <a:avLst/>
          </a:prstGeom>
          <a:noFill/>
        </p:spPr>
        <p:txBody>
          <a:bodyPr wrap="square">
            <a:spAutoFit/>
          </a:bodyPr>
          <a:lstStyle/>
          <a:p>
            <a:pPr algn="l"/>
            <a:r>
              <a:rPr sz="4400" b="1">
                <a:solidFill>
                  <a:schemeClr val="tx2"/>
                </a:solidFill>
                <a:latin typeface="Times New Roman"/>
              </a:rPr>
              <a:t>Architecture Diagram</a:t>
            </a:r>
          </a:p>
        </p:txBody>
      </p:sp>
      <p:pic>
        <p:nvPicPr>
          <p:cNvPr id="4" name="Picture 3">
            <a:extLst>
              <a:ext uri="{FF2B5EF4-FFF2-40B4-BE49-F238E27FC236}">
                <a16:creationId xmlns:a16="http://schemas.microsoft.com/office/drawing/2014/main" id="{CA8A60FB-4A2A-672A-B2AF-503E8CA0E723}"/>
              </a:ext>
            </a:extLst>
          </p:cNvPr>
          <p:cNvPicPr>
            <a:picLocks noChangeAspect="1"/>
          </p:cNvPicPr>
          <p:nvPr/>
        </p:nvPicPr>
        <p:blipFill>
          <a:blip r:embed="rId2"/>
          <a:srcRect l="8212" t="14654" r="5636" b="4348"/>
          <a:stretch>
            <a:fillRect/>
          </a:stretch>
        </p:blipFill>
        <p:spPr>
          <a:xfrm>
            <a:off x="3230217" y="1546087"/>
            <a:ext cx="5908272" cy="501374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704088"/>
            <a:ext cx="10972800" cy="1143000"/>
          </a:xfrm>
          <a:prstGeom prst="rect">
            <a:avLst/>
          </a:prstGeom>
          <a:noFill/>
        </p:spPr>
        <p:txBody>
          <a:bodyPr wrap="square">
            <a:spAutoFit/>
          </a:bodyPr>
          <a:lstStyle/>
          <a:p>
            <a:pPr algn="l"/>
            <a:r>
              <a:rPr sz="4000" b="1">
                <a:solidFill>
                  <a:schemeClr val="tx2"/>
                </a:solidFill>
                <a:latin typeface="Times New Roman"/>
              </a:rPr>
              <a:t>Modules</a:t>
            </a:r>
          </a:p>
        </p:txBody>
      </p:sp>
      <p:sp>
        <p:nvSpPr>
          <p:cNvPr id="3" name="TextBox 2"/>
          <p:cNvSpPr txBox="1"/>
          <p:nvPr/>
        </p:nvSpPr>
        <p:spPr>
          <a:xfrm>
            <a:off x="609600" y="1935480"/>
            <a:ext cx="10972800" cy="2693045"/>
          </a:xfrm>
          <a:prstGeom prst="rect">
            <a:avLst/>
          </a:prstGeom>
          <a:noFill/>
        </p:spPr>
        <p:txBody>
          <a:bodyPr wrap="square" lIns="91440" tIns="45720" rIns="91440" bIns="45720" anchor="t">
            <a:spAutoFit/>
          </a:bodyPr>
          <a:lstStyle/>
          <a:p>
            <a:pPr marL="457200" indent="-457200" algn="just">
              <a:spcAft>
                <a:spcPts val="600"/>
              </a:spcAft>
              <a:buAutoNum type="arabicPeriod"/>
            </a:pPr>
            <a:r>
              <a:rPr sz="2400" b="1" dirty="0">
                <a:latin typeface="Times New Roman"/>
              </a:rPr>
              <a:t>Customer Payment Portal</a:t>
            </a:r>
            <a:endParaRPr lang="en-US" dirty="0"/>
          </a:p>
          <a:p>
            <a:pPr marL="457200" indent="-457200" algn="just">
              <a:spcAft>
                <a:spcPts val="600"/>
              </a:spcAft>
              <a:buAutoNum type="arabicPeriod"/>
            </a:pPr>
            <a:r>
              <a:rPr sz="2400" b="1" dirty="0">
                <a:latin typeface="Times New Roman"/>
              </a:rPr>
              <a:t>Manager Security Operations Center (SOC)</a:t>
            </a:r>
            <a:endParaRPr sz="2400" b="1" dirty="0">
              <a:latin typeface="Times New Roman"/>
              <a:cs typeface="Times New Roman"/>
            </a:endParaRPr>
          </a:p>
          <a:p>
            <a:pPr marL="457200" indent="-457200" algn="just">
              <a:spcAft>
                <a:spcPts val="600"/>
              </a:spcAft>
              <a:buAutoNum type="arabicPeriod"/>
            </a:pPr>
            <a:r>
              <a:rPr sz="2400" b="1" dirty="0">
                <a:latin typeface="Times New Roman"/>
              </a:rPr>
              <a:t>Explainable AI (XAI) Diagnostic Modal</a:t>
            </a:r>
            <a:endParaRPr sz="2400" b="1" dirty="0">
              <a:latin typeface="Times New Roman"/>
              <a:cs typeface="Times New Roman"/>
            </a:endParaRPr>
          </a:p>
          <a:p>
            <a:pPr marL="457200" indent="-457200" algn="just">
              <a:spcAft>
                <a:spcPts val="600"/>
              </a:spcAft>
              <a:buAutoNum type="arabicPeriod"/>
            </a:pPr>
            <a:r>
              <a:rPr sz="2400" b="1" dirty="0">
                <a:latin typeface="Times New Roman"/>
              </a:rPr>
              <a:t>Blockchain Ledger Explorer</a:t>
            </a:r>
            <a:endParaRPr sz="2400" b="1" dirty="0">
              <a:latin typeface="Times New Roman"/>
              <a:cs typeface="Times New Roman"/>
            </a:endParaRPr>
          </a:p>
          <a:p>
            <a:pPr marL="457200" indent="-457200" algn="just">
              <a:spcAft>
                <a:spcPts val="600"/>
              </a:spcAft>
              <a:buAutoNum type="arabicPeriod"/>
            </a:pPr>
            <a:r>
              <a:rPr sz="2400" b="1" dirty="0">
                <a:latin typeface="Times New Roman"/>
              </a:rPr>
              <a:t>ML Fraud Classification Engine</a:t>
            </a:r>
            <a:endParaRPr sz="2400" b="1" dirty="0">
              <a:latin typeface="Times New Roman"/>
              <a:cs typeface="Times New Roman"/>
            </a:endParaRPr>
          </a:p>
          <a:p>
            <a:pPr marL="457200" indent="-457200" algn="just">
              <a:spcAft>
                <a:spcPts val="600"/>
              </a:spcAft>
              <a:buAutoNum type="arabicPeriod"/>
            </a:pPr>
            <a:r>
              <a:rPr sz="2400" b="1" dirty="0">
                <a:latin typeface="Times New Roman"/>
              </a:rPr>
              <a:t>Smart Contract Dispute Recovery</a:t>
            </a:r>
            <a:endParaRPr sz="2400" b="1" dirty="0">
              <a:latin typeface="Times New Roman"/>
              <a:cs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704088"/>
            <a:ext cx="10972800" cy="1143000"/>
          </a:xfrm>
          <a:prstGeom prst="rect">
            <a:avLst/>
          </a:prstGeom>
          <a:noFill/>
        </p:spPr>
        <p:txBody>
          <a:bodyPr wrap="square">
            <a:spAutoFit/>
          </a:bodyPr>
          <a:lstStyle/>
          <a:p>
            <a:pPr algn="l"/>
            <a:r>
              <a:rPr sz="4000" b="1">
                <a:solidFill>
                  <a:schemeClr val="tx2"/>
                </a:solidFill>
                <a:latin typeface="Times New Roman"/>
              </a:rPr>
              <a:t>Module : 1 : Customer Payment Portal</a:t>
            </a:r>
          </a:p>
        </p:txBody>
      </p:sp>
      <p:sp>
        <p:nvSpPr>
          <p:cNvPr id="3" name="TextBox 2"/>
          <p:cNvSpPr txBox="1"/>
          <p:nvPr/>
        </p:nvSpPr>
        <p:spPr>
          <a:xfrm>
            <a:off x="609600" y="1935480"/>
            <a:ext cx="10972800" cy="4389120"/>
          </a:xfrm>
          <a:prstGeom prst="rect">
            <a:avLst/>
          </a:prstGeom>
          <a:noFill/>
        </p:spPr>
        <p:txBody>
          <a:bodyPr wrap="square">
            <a:spAutoFit/>
          </a:bodyPr>
          <a:lstStyle/>
          <a:p>
            <a:pPr algn="just">
              <a:spcAft>
                <a:spcPts val="600"/>
              </a:spcAft>
            </a:pPr>
            <a:r>
              <a:rPr sz="2400" b="0">
                <a:latin typeface="Times New Roman"/>
              </a:rPr>
              <a:t>The Customer Payment Portal provides an interactive checkout interface where cardholders execute transactions, view real-time authorization statuses, and inspect personal transaction histories. Each transaction displays its composite risk score, authorization decision (APPROVED/BLOCKED/FLAGGED), and timestamp. For blocked transactions, the portal surfaces a dispute recovery workflow allowing cardholders to verify identity via MFA tokens.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704088"/>
            <a:ext cx="10972800" cy="1143000"/>
          </a:xfrm>
          <a:prstGeom prst="rect">
            <a:avLst/>
          </a:prstGeom>
          <a:noFill/>
        </p:spPr>
        <p:txBody>
          <a:bodyPr wrap="square">
            <a:spAutoFit/>
          </a:bodyPr>
          <a:lstStyle/>
          <a:p>
            <a:pPr algn="l"/>
            <a:r>
              <a:rPr sz="4000" b="1">
                <a:solidFill>
                  <a:schemeClr val="tx2"/>
                </a:solidFill>
                <a:latin typeface="Times New Roman"/>
              </a:rPr>
              <a:t>Module : 2 : Manager SOC Dashboard</a:t>
            </a:r>
          </a:p>
        </p:txBody>
      </p:sp>
      <p:sp>
        <p:nvSpPr>
          <p:cNvPr id="3" name="TextBox 2"/>
          <p:cNvSpPr txBox="1"/>
          <p:nvPr/>
        </p:nvSpPr>
        <p:spPr>
          <a:xfrm>
            <a:off x="609600" y="1935480"/>
            <a:ext cx="10972800" cy="4389120"/>
          </a:xfrm>
          <a:prstGeom prst="rect">
            <a:avLst/>
          </a:prstGeom>
          <a:noFill/>
        </p:spPr>
        <p:txBody>
          <a:bodyPr wrap="square">
            <a:spAutoFit/>
          </a:bodyPr>
          <a:lstStyle/>
          <a:p>
            <a:pPr algn="just">
              <a:spcAft>
                <a:spcPts val="600"/>
              </a:spcAft>
            </a:pPr>
            <a:r>
              <a:rPr sz="2400" b="0">
                <a:latin typeface="Times New Roman"/>
              </a:rPr>
              <a:t>The Manager Security Operations Center Dashboard serves as a central command view displaying real-time transaction streams, flagged fraud alerts, system throughput metrics, and threat telemetry. SOC analysts can drill into individual transactions to examine SHAP waterfall charts, verify blockchain ledger integrity, and trigger automated security auto-repair workflows for compromised cards.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704088"/>
            <a:ext cx="10972800" cy="1143000"/>
          </a:xfrm>
          <a:prstGeom prst="rect">
            <a:avLst/>
          </a:prstGeom>
          <a:noFill/>
        </p:spPr>
        <p:txBody>
          <a:bodyPr wrap="square">
            <a:spAutoFit/>
          </a:bodyPr>
          <a:lstStyle/>
          <a:p>
            <a:pPr algn="l"/>
            <a:r>
              <a:rPr sz="4000" b="1">
                <a:solidFill>
                  <a:schemeClr val="tx2"/>
                </a:solidFill>
                <a:latin typeface="Times New Roman"/>
              </a:rPr>
              <a:t>Module : 3 : XAI Diagnostic Modal</a:t>
            </a:r>
          </a:p>
        </p:txBody>
      </p:sp>
      <p:sp>
        <p:nvSpPr>
          <p:cNvPr id="3" name="TextBox 2"/>
          <p:cNvSpPr txBox="1"/>
          <p:nvPr/>
        </p:nvSpPr>
        <p:spPr>
          <a:xfrm>
            <a:off x="609600" y="1935480"/>
            <a:ext cx="10972800" cy="4389120"/>
          </a:xfrm>
          <a:prstGeom prst="rect">
            <a:avLst/>
          </a:prstGeom>
          <a:noFill/>
        </p:spPr>
        <p:txBody>
          <a:bodyPr wrap="square">
            <a:spAutoFit/>
          </a:bodyPr>
          <a:lstStyle/>
          <a:p>
            <a:pPr algn="just">
              <a:spcAft>
                <a:spcPts val="600"/>
              </a:spcAft>
            </a:pPr>
            <a:r>
              <a:rPr sz="2400" b="0">
                <a:latin typeface="Times New Roman"/>
              </a:rPr>
              <a:t>The Explainable AI Diagnostic Modal surfaces SHAP waterfall charts breaking down exact feature contribution scores for any flagged transaction. Features like 'Transaction Amount &gt; $4,500' contributing +0.38 to risk and 'Location Distance &gt; 2,000 miles' contributing +0.27 are displayed in a ranked bar chart, providing compliance officers with transparent, mathematically rigorous fraud justifications.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704088"/>
            <a:ext cx="10972800" cy="1143000"/>
          </a:xfrm>
          <a:prstGeom prst="rect">
            <a:avLst/>
          </a:prstGeom>
          <a:noFill/>
        </p:spPr>
        <p:txBody>
          <a:bodyPr wrap="square">
            <a:spAutoFit/>
          </a:bodyPr>
          <a:lstStyle/>
          <a:p>
            <a:pPr algn="l"/>
            <a:r>
              <a:rPr sz="4000" b="1">
                <a:solidFill>
                  <a:schemeClr val="tx2"/>
                </a:solidFill>
                <a:latin typeface="Times New Roman"/>
              </a:rPr>
              <a:t>Module : 4 : Blockchain Ledger Explorer</a:t>
            </a:r>
          </a:p>
        </p:txBody>
      </p:sp>
      <p:sp>
        <p:nvSpPr>
          <p:cNvPr id="3" name="TextBox 2"/>
          <p:cNvSpPr txBox="1"/>
          <p:nvPr/>
        </p:nvSpPr>
        <p:spPr>
          <a:xfrm>
            <a:off x="609600" y="1935480"/>
            <a:ext cx="10972800" cy="4389120"/>
          </a:xfrm>
          <a:prstGeom prst="rect">
            <a:avLst/>
          </a:prstGeom>
          <a:noFill/>
        </p:spPr>
        <p:txBody>
          <a:bodyPr wrap="square">
            <a:spAutoFit/>
          </a:bodyPr>
          <a:lstStyle/>
          <a:p>
            <a:pPr algn="just">
              <a:spcAft>
                <a:spcPts val="600"/>
              </a:spcAft>
            </a:pPr>
            <a:r>
              <a:rPr sz="2400" b="0">
                <a:latin typeface="Times New Roman"/>
              </a:rPr>
              <a:t>A cryptographic inspection tool allowing compliance officers to browse committed blocks, verify SHA-256 Merkle roots, and trace transaction immutability across the permissioned ledger.</a:t>
            </a:r>
          </a:p>
          <a:p>
            <a:pPr algn="just">
              <a:spcAft>
                <a:spcPts val="600"/>
              </a:spcAft>
            </a:pPr>
            <a:r>
              <a:rPr sz="2400" b="0">
                <a:latin typeface="Times New Roman"/>
              </a:rPr>
              <a:t>Each block contains: Block Index, Timestamp, Previous Block Hash, Merkle Root Hash, and Consensus Nonce.</a:t>
            </a:r>
          </a:p>
          <a:p>
            <a:pPr algn="just">
              <a:spcAft>
                <a:spcPts val="600"/>
              </a:spcAft>
            </a:pPr>
            <a:r>
              <a:rPr sz="2400" b="0">
                <a:latin typeface="Times New Roman"/>
              </a:rPr>
              <a:t>Automated attack detection: any unauthorized modification to a transaction record triggers Merkle root mismatch within 0.4ms.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704088"/>
            <a:ext cx="10972800" cy="1143000"/>
          </a:xfrm>
          <a:prstGeom prst="rect">
            <a:avLst/>
          </a:prstGeom>
          <a:noFill/>
        </p:spPr>
        <p:txBody>
          <a:bodyPr wrap="square">
            <a:spAutoFit/>
          </a:bodyPr>
          <a:lstStyle/>
          <a:p>
            <a:pPr algn="l"/>
            <a:r>
              <a:rPr sz="4000" b="1">
                <a:solidFill>
                  <a:schemeClr val="tx2"/>
                </a:solidFill>
                <a:latin typeface="Times New Roman"/>
              </a:rPr>
              <a:t>Module : 5 : ML Fraud Classification Engine</a:t>
            </a:r>
          </a:p>
        </p:txBody>
      </p:sp>
      <p:sp>
        <p:nvSpPr>
          <p:cNvPr id="3" name="TextBox 2"/>
          <p:cNvSpPr txBox="1"/>
          <p:nvPr/>
        </p:nvSpPr>
        <p:spPr>
          <a:xfrm>
            <a:off x="609600" y="1935480"/>
            <a:ext cx="10972800" cy="4389120"/>
          </a:xfrm>
          <a:prstGeom prst="rect">
            <a:avLst/>
          </a:prstGeom>
          <a:noFill/>
        </p:spPr>
        <p:txBody>
          <a:bodyPr wrap="square">
            <a:spAutoFit/>
          </a:bodyPr>
          <a:lstStyle/>
          <a:p>
            <a:pPr algn="just">
              <a:spcAft>
                <a:spcPts val="600"/>
              </a:spcAft>
            </a:pPr>
            <a:r>
              <a:rPr sz="2400" b="1">
                <a:latin typeface="Times New Roman"/>
              </a:rPr>
              <a:t>Supervised Model:</a:t>
            </a:r>
          </a:p>
          <a:p>
            <a:pPr algn="just">
              <a:spcAft>
                <a:spcPts val="600"/>
              </a:spcAft>
            </a:pPr>
            <a:r>
              <a:rPr sz="2400" b="0">
                <a:latin typeface="Times New Roman"/>
              </a:rPr>
              <a:t>Random Forest ensemble of 100 decision trees evaluates transaction features against historical fraud patterns, outputting supervised probability P_RF.</a:t>
            </a:r>
          </a:p>
          <a:p>
            <a:pPr algn="just">
              <a:spcAft>
                <a:spcPts val="600"/>
              </a:spcAft>
            </a:pPr>
            <a:r>
              <a:rPr sz="2400" b="1">
                <a:latin typeface="Times New Roman"/>
              </a:rPr>
              <a:t>Unsupervised Model:</a:t>
            </a:r>
          </a:p>
          <a:p>
            <a:pPr algn="just">
              <a:spcAft>
                <a:spcPts val="600"/>
              </a:spcAft>
            </a:pPr>
            <a:r>
              <a:rPr sz="2400" b="0">
                <a:latin typeface="Times New Roman"/>
              </a:rPr>
              <a:t>Isolation Forest calculates anomaly score S_IF based on tree isolation depth, detecting unusual spending behaviors deviating from baseline patterns.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704088"/>
            <a:ext cx="10972800" cy="1143000"/>
          </a:xfrm>
          <a:prstGeom prst="rect">
            <a:avLst/>
          </a:prstGeom>
          <a:noFill/>
        </p:spPr>
        <p:txBody>
          <a:bodyPr wrap="square">
            <a:spAutoFit/>
          </a:bodyPr>
          <a:lstStyle/>
          <a:p>
            <a:pPr algn="l"/>
            <a:r>
              <a:rPr sz="4000" b="1">
                <a:solidFill>
                  <a:schemeClr val="tx2"/>
                </a:solidFill>
                <a:latin typeface="Times New Roman"/>
              </a:rPr>
              <a:t>Module : 5</a:t>
            </a:r>
          </a:p>
        </p:txBody>
      </p:sp>
      <p:sp>
        <p:nvSpPr>
          <p:cNvPr id="3" name="TextBox 2"/>
          <p:cNvSpPr txBox="1"/>
          <p:nvPr/>
        </p:nvSpPr>
        <p:spPr>
          <a:xfrm>
            <a:off x="609600" y="1935480"/>
            <a:ext cx="10972800" cy="4247317"/>
          </a:xfrm>
          <a:prstGeom prst="rect">
            <a:avLst/>
          </a:prstGeom>
          <a:noFill/>
        </p:spPr>
        <p:txBody>
          <a:bodyPr wrap="square" lIns="91440" tIns="45720" rIns="91440" bIns="45720" anchor="t">
            <a:spAutoFit/>
          </a:bodyPr>
          <a:lstStyle/>
          <a:p>
            <a:pPr algn="just">
              <a:spcAft>
                <a:spcPts val="600"/>
              </a:spcAft>
            </a:pPr>
            <a:r>
              <a:rPr sz="2400" b="1" dirty="0">
                <a:latin typeface="Times New Roman"/>
              </a:rPr>
              <a:t>Composite Risk Scoring:</a:t>
            </a:r>
          </a:p>
          <a:p>
            <a:pPr algn="just">
              <a:spcAft>
                <a:spcPts val="600"/>
              </a:spcAft>
            </a:pPr>
            <a:r>
              <a:rPr sz="2400" b="0" dirty="0" err="1">
                <a:latin typeface="Times New Roman"/>
              </a:rPr>
              <a:t>R_final</a:t>
            </a:r>
            <a:r>
              <a:rPr sz="2400" b="0" dirty="0">
                <a:latin typeface="Times New Roman"/>
              </a:rPr>
              <a:t> = 0.70 * P_RF + 0.30 * S_IF balances supervised pattern matching with novel anomaly detection.</a:t>
            </a:r>
            <a:endParaRPr sz="2400" b="0" dirty="0">
              <a:latin typeface="Times New Roman"/>
              <a:cs typeface="Times New Roman"/>
            </a:endParaRPr>
          </a:p>
          <a:p>
            <a:pPr algn="just">
              <a:spcAft>
                <a:spcPts val="600"/>
              </a:spcAft>
            </a:pPr>
            <a:r>
              <a:rPr sz="2400" b="1" dirty="0">
                <a:latin typeface="Times New Roman"/>
              </a:rPr>
              <a:t>Haversine Formula:</a:t>
            </a:r>
            <a:endParaRPr sz="2400" b="1" dirty="0">
              <a:latin typeface="Times New Roman"/>
              <a:cs typeface="Times New Roman"/>
            </a:endParaRPr>
          </a:p>
          <a:p>
            <a:pPr algn="just">
              <a:spcAft>
                <a:spcPts val="600"/>
              </a:spcAft>
            </a:pPr>
            <a:r>
              <a:rPr sz="2400" b="0" dirty="0">
                <a:latin typeface="Times New Roman"/>
              </a:rPr>
              <a:t>Spatial velocity computation detects physically impossible travel speeds between consecutive transactions, automatically flagging v &gt; 500 mph.</a:t>
            </a:r>
            <a:endParaRPr sz="2400" b="0" dirty="0">
              <a:latin typeface="Times New Roman"/>
              <a:cs typeface="Times New Roman"/>
            </a:endParaRPr>
          </a:p>
          <a:p>
            <a:pPr algn="just">
              <a:spcAft>
                <a:spcPts val="600"/>
              </a:spcAft>
            </a:pPr>
            <a:r>
              <a:rPr lang="en-US" sz="2400" b="1" dirty="0">
                <a:latin typeface="Times New Roman"/>
                <a:cs typeface="Times New Roman"/>
              </a:rPr>
              <a:t>Feature Pre-processing:</a:t>
            </a:r>
            <a:endParaRPr lang="en-US" sz="2400" dirty="0">
              <a:latin typeface="Times New Roman"/>
              <a:cs typeface="Times New Roman"/>
            </a:endParaRPr>
          </a:p>
          <a:p>
            <a:pPr algn="just">
              <a:spcAft>
                <a:spcPts val="600"/>
              </a:spcAft>
            </a:pPr>
            <a:r>
              <a:rPr lang="en-US" sz="2400" dirty="0">
                <a:latin typeface="Times New Roman"/>
                <a:cs typeface="Times New Roman"/>
              </a:rPr>
              <a:t>Z-score standardization for numerical attributes, temporal time-delta features, </a:t>
            </a:r>
            <a:r>
              <a:rPr lang="en-US" sz="2400" dirty="0" err="1">
                <a:latin typeface="Times New Roman"/>
                <a:cs typeface="Times New Roman"/>
              </a:rPr>
              <a:t>andHaversine</a:t>
            </a:r>
            <a:r>
              <a:rPr lang="en-US" sz="2400" dirty="0">
                <a:latin typeface="Times New Roman"/>
                <a:cs typeface="Times New Roman"/>
              </a:rPr>
              <a:t> distance calculations for spatial anomaly detection.</a:t>
            </a:r>
          </a:p>
          <a:p>
            <a:pPr algn="just">
              <a:spcAft>
                <a:spcPts val="600"/>
              </a:spcAft>
            </a:pPr>
            <a:endParaRPr lang="en-US" sz="2400" dirty="0">
              <a:latin typeface="Times New Roman"/>
              <a:cs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704088"/>
            <a:ext cx="10972800" cy="1143000"/>
          </a:xfrm>
          <a:prstGeom prst="rect">
            <a:avLst/>
          </a:prstGeom>
          <a:noFill/>
        </p:spPr>
        <p:txBody>
          <a:bodyPr wrap="square">
            <a:spAutoFit/>
          </a:bodyPr>
          <a:lstStyle/>
          <a:p>
            <a:pPr algn="l"/>
            <a:r>
              <a:rPr sz="4000" b="1">
                <a:solidFill>
                  <a:schemeClr val="tx2"/>
                </a:solidFill>
                <a:latin typeface="Times New Roman"/>
              </a:rPr>
              <a:t>Module : 6 : Smart Contract Dispute Recovery</a:t>
            </a:r>
          </a:p>
        </p:txBody>
      </p:sp>
      <p:sp>
        <p:nvSpPr>
          <p:cNvPr id="3" name="TextBox 2"/>
          <p:cNvSpPr txBox="1"/>
          <p:nvPr/>
        </p:nvSpPr>
        <p:spPr>
          <a:xfrm>
            <a:off x="609600" y="1935480"/>
            <a:ext cx="10972800" cy="4389120"/>
          </a:xfrm>
          <a:prstGeom prst="rect">
            <a:avLst/>
          </a:prstGeom>
          <a:noFill/>
        </p:spPr>
        <p:txBody>
          <a:bodyPr wrap="square">
            <a:spAutoFit/>
          </a:bodyPr>
          <a:lstStyle/>
          <a:p>
            <a:pPr algn="just">
              <a:spcAft>
                <a:spcPts val="600"/>
              </a:spcAft>
            </a:pPr>
            <a:r>
              <a:rPr sz="2400" b="0">
                <a:latin typeface="Times New Roman"/>
              </a:rPr>
              <a:t>The dispute recovery smart contract enforces a finite state machine controlling card governance through four phases: ACTIVE, SUSPENDED_RISK, FROZEN_FRAUD, and RESTORED_VERIFIED. When anomaly triggers SUSPENDED_RISK, the contract grants a 15-minute MFA challenge window. Successful cryptographic signature verification transitions the state to RESTORED_VERIFIED, unfreezing the card without manual bank employee intervention.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704088"/>
            <a:ext cx="10972800" cy="1143000"/>
          </a:xfrm>
          <a:prstGeom prst="rect">
            <a:avLst/>
          </a:prstGeom>
          <a:noFill/>
        </p:spPr>
        <p:txBody>
          <a:bodyPr wrap="square">
            <a:spAutoFit/>
          </a:bodyPr>
          <a:lstStyle/>
          <a:p>
            <a:pPr algn="l"/>
            <a:r>
              <a:rPr sz="4400" b="1">
                <a:solidFill>
                  <a:schemeClr val="tx2"/>
                </a:solidFill>
                <a:latin typeface="Times New Roman"/>
              </a:rPr>
              <a:t>OUTPUT</a:t>
            </a:r>
          </a:p>
        </p:txBody>
      </p:sp>
      <p:pic>
        <p:nvPicPr>
          <p:cNvPr id="4" name="Picture 3">
            <a:extLst>
              <a:ext uri="{FF2B5EF4-FFF2-40B4-BE49-F238E27FC236}">
                <a16:creationId xmlns:a16="http://schemas.microsoft.com/office/drawing/2014/main" id="{938DFFBA-6502-33BE-2BC7-8A7575C2DA49}"/>
              </a:ext>
            </a:extLst>
          </p:cNvPr>
          <p:cNvPicPr>
            <a:picLocks noChangeAspect="1"/>
          </p:cNvPicPr>
          <p:nvPr/>
        </p:nvPicPr>
        <p:blipFill>
          <a:blip r:embed="rId2"/>
          <a:stretch>
            <a:fillRect/>
          </a:stretch>
        </p:blipFill>
        <p:spPr>
          <a:xfrm>
            <a:off x="2084594" y="1712498"/>
            <a:ext cx="7691507" cy="4471091"/>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704088"/>
            <a:ext cx="10972800" cy="1143000"/>
          </a:xfrm>
          <a:prstGeom prst="rect">
            <a:avLst/>
          </a:prstGeom>
          <a:noFill/>
        </p:spPr>
        <p:txBody>
          <a:bodyPr wrap="square">
            <a:spAutoFit/>
          </a:bodyPr>
          <a:lstStyle/>
          <a:p>
            <a:pPr algn="l"/>
            <a:r>
              <a:rPr sz="4400" b="1">
                <a:solidFill>
                  <a:schemeClr val="tx2"/>
                </a:solidFill>
                <a:latin typeface="Times New Roman"/>
              </a:rPr>
              <a:t>Contd..</a:t>
            </a:r>
          </a:p>
        </p:txBody>
      </p:sp>
      <p:pic>
        <p:nvPicPr>
          <p:cNvPr id="4" name="Picture 3">
            <a:extLst>
              <a:ext uri="{FF2B5EF4-FFF2-40B4-BE49-F238E27FC236}">
                <a16:creationId xmlns:a16="http://schemas.microsoft.com/office/drawing/2014/main" id="{EA2BE59C-B9D1-B9F9-ED1B-754990A6EA9E}"/>
              </a:ext>
            </a:extLst>
          </p:cNvPr>
          <p:cNvPicPr>
            <a:picLocks noChangeAspect="1"/>
          </p:cNvPicPr>
          <p:nvPr/>
        </p:nvPicPr>
        <p:blipFill>
          <a:blip r:embed="rId2"/>
          <a:stretch>
            <a:fillRect/>
          </a:stretch>
        </p:blipFill>
        <p:spPr>
          <a:xfrm>
            <a:off x="1789043" y="1515717"/>
            <a:ext cx="9132957" cy="483152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704088"/>
            <a:ext cx="10972800" cy="1143000"/>
          </a:xfrm>
          <a:prstGeom prst="rect">
            <a:avLst/>
          </a:prstGeom>
          <a:noFill/>
        </p:spPr>
        <p:txBody>
          <a:bodyPr wrap="square">
            <a:spAutoFit/>
          </a:bodyPr>
          <a:lstStyle/>
          <a:p>
            <a:pPr algn="l"/>
            <a:r>
              <a:rPr sz="4400" b="1">
                <a:solidFill>
                  <a:schemeClr val="tx2"/>
                </a:solidFill>
                <a:latin typeface="Times New Roman"/>
              </a:rPr>
              <a:t>Contd..</a:t>
            </a:r>
          </a:p>
        </p:txBody>
      </p:sp>
      <p:pic>
        <p:nvPicPr>
          <p:cNvPr id="4" name="Picture 3">
            <a:extLst>
              <a:ext uri="{FF2B5EF4-FFF2-40B4-BE49-F238E27FC236}">
                <a16:creationId xmlns:a16="http://schemas.microsoft.com/office/drawing/2014/main" id="{0568D5AE-B6BF-3F09-20E0-FB2CFD0ED83D}"/>
              </a:ext>
            </a:extLst>
          </p:cNvPr>
          <p:cNvPicPr>
            <a:picLocks noChangeAspect="1"/>
          </p:cNvPicPr>
          <p:nvPr/>
        </p:nvPicPr>
        <p:blipFill>
          <a:blip r:embed="rId2"/>
          <a:stretch>
            <a:fillRect/>
          </a:stretch>
        </p:blipFill>
        <p:spPr>
          <a:xfrm>
            <a:off x="1590260" y="1840706"/>
            <a:ext cx="7774610" cy="404902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704088"/>
            <a:ext cx="10972800" cy="1143000"/>
          </a:xfrm>
          <a:prstGeom prst="rect">
            <a:avLst/>
          </a:prstGeom>
          <a:noFill/>
        </p:spPr>
        <p:txBody>
          <a:bodyPr wrap="square">
            <a:spAutoFit/>
          </a:bodyPr>
          <a:lstStyle/>
          <a:p>
            <a:pPr algn="l"/>
            <a:r>
              <a:rPr sz="4000" b="1">
                <a:solidFill>
                  <a:schemeClr val="tx2"/>
                </a:solidFill>
                <a:latin typeface="Times New Roman"/>
              </a:rPr>
              <a:t>Conclusion</a:t>
            </a:r>
          </a:p>
        </p:txBody>
      </p:sp>
      <p:sp>
        <p:nvSpPr>
          <p:cNvPr id="3" name="TextBox 2"/>
          <p:cNvSpPr txBox="1"/>
          <p:nvPr/>
        </p:nvSpPr>
        <p:spPr>
          <a:xfrm>
            <a:off x="609600" y="1935480"/>
            <a:ext cx="10972800" cy="4389120"/>
          </a:xfrm>
          <a:prstGeom prst="rect">
            <a:avLst/>
          </a:prstGeom>
          <a:noFill/>
        </p:spPr>
        <p:txBody>
          <a:bodyPr wrap="square">
            <a:spAutoFit/>
          </a:bodyPr>
          <a:lstStyle/>
          <a:p>
            <a:pPr algn="just">
              <a:spcAft>
                <a:spcPts val="600"/>
              </a:spcAft>
            </a:pPr>
            <a:r>
              <a:rPr sz="2400" b="0">
                <a:latin typeface="Times New Roman"/>
              </a:rPr>
              <a:t>This project successfully demonstrates a full-stack, explainable, and cryptographically secure Credit Card Fraud Detection and Defense Platform. By uniting Random Forest supervision, Isolation Forest anomaly scoring, SHAP feature attributions, and a permissioned SHA-256 Merkle blockchain ledger, the platform delivers transparent fraud decisioning and tamper-proof auditability.</a:t>
            </a:r>
          </a:p>
          <a:p>
            <a:pPr algn="just">
              <a:spcAft>
                <a:spcPts val="600"/>
              </a:spcAft>
            </a:pPr>
            <a:r>
              <a:rPr sz="2400" b="0">
                <a:latin typeface="Times New Roman"/>
              </a:rPr>
              <a:t>Performance evaluations confirm 99.4% classification accuracy, ROC-AUC of 0.982, and sub-18ms execution latencies, providing a scalable blueprint for modern financial security infrastructure.</a:t>
            </a:r>
          </a:p>
          <a:p>
            <a:pPr algn="just">
              <a:spcAft>
                <a:spcPts val="600"/>
              </a:spcAft>
            </a:pPr>
            <a:r>
              <a:rPr sz="2400" b="0">
                <a:latin typeface="Times New Roman"/>
              </a:rPr>
              <a:t>Future research includes deploying zk-SNARK protocols for cross-bank fraud sharing, integrating Graph Neural Networks for money laundering detection, and migrating to distributed Raft fault-tolerant consensus.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704088"/>
            <a:ext cx="10972800" cy="1143000"/>
          </a:xfrm>
          <a:prstGeom prst="rect">
            <a:avLst/>
          </a:prstGeom>
          <a:noFill/>
        </p:spPr>
        <p:txBody>
          <a:bodyPr wrap="square">
            <a:spAutoFit/>
          </a:bodyPr>
          <a:lstStyle/>
          <a:p>
            <a:pPr algn="l"/>
            <a:r>
              <a:rPr sz="4000" b="1">
                <a:solidFill>
                  <a:schemeClr val="tx2"/>
                </a:solidFill>
                <a:latin typeface="Times New Roman"/>
              </a:rPr>
              <a:t>References</a:t>
            </a:r>
          </a:p>
        </p:txBody>
      </p:sp>
      <p:sp>
        <p:nvSpPr>
          <p:cNvPr id="3" name="TextBox 2"/>
          <p:cNvSpPr txBox="1"/>
          <p:nvPr/>
        </p:nvSpPr>
        <p:spPr>
          <a:xfrm>
            <a:off x="609600" y="1935480"/>
            <a:ext cx="10972800" cy="4389120"/>
          </a:xfrm>
          <a:prstGeom prst="rect">
            <a:avLst/>
          </a:prstGeom>
          <a:noFill/>
        </p:spPr>
        <p:txBody>
          <a:bodyPr wrap="square">
            <a:spAutoFit/>
          </a:bodyPr>
          <a:lstStyle/>
          <a:p>
            <a:pPr algn="just">
              <a:spcAft>
                <a:spcPts val="600"/>
              </a:spcAft>
            </a:pPr>
            <a:r>
              <a:rPr sz="2000" b="0">
                <a:latin typeface="Times New Roman"/>
              </a:rPr>
              <a:t>[1] Nakamoto, S. (2008) 'Bitcoin: P2P Electronic Cash System', Decentralized Business Review.</a:t>
            </a:r>
          </a:p>
          <a:p>
            <a:pPr algn="just">
              <a:spcAft>
                <a:spcPts val="600"/>
              </a:spcAft>
            </a:pPr>
            <a:r>
              <a:rPr sz="2000" b="0">
                <a:latin typeface="Times New Roman"/>
              </a:rPr>
              <a:t>[2] Wood, G. (2014) 'Ethereum: Secure Decentralised Transaction Ledger', Ethereum Yellow Paper.</a:t>
            </a:r>
          </a:p>
          <a:p>
            <a:pPr algn="just">
              <a:spcAft>
                <a:spcPts val="600"/>
              </a:spcAft>
            </a:pPr>
            <a:r>
              <a:rPr sz="2000" b="0">
                <a:latin typeface="Times New Roman"/>
              </a:rPr>
              <a:t>[3] Breiman, L. (2001) 'Random Forests', Machine Learning, 45(1), pp. 5-32.</a:t>
            </a:r>
          </a:p>
          <a:p>
            <a:pPr algn="just">
              <a:spcAft>
                <a:spcPts val="600"/>
              </a:spcAft>
            </a:pPr>
            <a:r>
              <a:rPr sz="2000" b="0">
                <a:latin typeface="Times New Roman"/>
              </a:rPr>
              <a:t>[4] Liu, F. T. et al. (2008) 'Isolation Forest', IEEE ICDM, pp. 413-422.</a:t>
            </a:r>
          </a:p>
          <a:p>
            <a:pPr algn="just">
              <a:spcAft>
                <a:spcPts val="600"/>
              </a:spcAft>
            </a:pPr>
            <a:r>
              <a:rPr sz="2000" b="0">
                <a:latin typeface="Times New Roman"/>
              </a:rPr>
              <a:t>[5] Lundberg, S. M. &amp; Lee, S. I. (2017) 'SHAP', NeurIPS, 30, pp. 4765-4774.</a:t>
            </a:r>
          </a:p>
          <a:p>
            <a:pPr algn="just">
              <a:spcAft>
                <a:spcPts val="600"/>
              </a:spcAft>
            </a:pPr>
            <a:r>
              <a:rPr sz="2000" b="0">
                <a:latin typeface="Times New Roman"/>
              </a:rPr>
              <a:t>[6] Dal Pozzolo, A. et al. (2015) 'Credit Card Fraud Calibration', Comp. Intelligence, 31(4).</a:t>
            </a:r>
          </a:p>
          <a:p>
            <a:pPr algn="just">
              <a:spcAft>
                <a:spcPts val="600"/>
              </a:spcAft>
            </a:pPr>
            <a:r>
              <a:rPr sz="2000" b="0">
                <a:latin typeface="Times New Roman"/>
              </a:rPr>
              <a:t>[7] Merkle, R. C. (1987) 'Digital Signature Based on Encryption', CRYPTO '87, pp. 369-378.</a:t>
            </a:r>
          </a:p>
          <a:p>
            <a:pPr algn="just">
              <a:spcAft>
                <a:spcPts val="600"/>
              </a:spcAft>
            </a:pPr>
            <a:r>
              <a:rPr sz="2000" b="0">
                <a:latin typeface="Times New Roman"/>
              </a:rPr>
              <a:t>[8] Bhattacharyya, S. et al. (2011) 'Data Mining for Fraud', Decision Support Systems, 50(3).</a:t>
            </a:r>
          </a:p>
          <a:p>
            <a:pPr algn="just">
              <a:spcAft>
                <a:spcPts val="600"/>
              </a:spcAft>
            </a:pPr>
            <a:r>
              <a:rPr sz="2000" b="0">
                <a:latin typeface="Times New Roman"/>
              </a:rPr>
              <a:t>[9] Zcash Team (2019) 'Zcash Protocol Specification', Electric Coin Company.</a:t>
            </a:r>
          </a:p>
          <a:p>
            <a:pPr algn="just">
              <a:spcAft>
                <a:spcPts val="600"/>
              </a:spcAft>
            </a:pPr>
            <a:r>
              <a:rPr sz="2000" b="0">
                <a:latin typeface="Times New Roman"/>
              </a:rPr>
              <a:t>[10] Androulaki, E. et al. (2018) 'Hyperledger Fabric', ACM EuroSys, pp. 1-15.</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704088"/>
            <a:ext cx="10972800" cy="1143000"/>
          </a:xfrm>
          <a:prstGeom prst="rect">
            <a:avLst/>
          </a:prstGeom>
          <a:noFill/>
        </p:spPr>
        <p:txBody>
          <a:bodyPr wrap="square">
            <a:spAutoFit/>
          </a:bodyPr>
          <a:lstStyle/>
          <a:p>
            <a:pPr algn="r"/>
            <a:r>
              <a:rPr sz="4000" b="1">
                <a:solidFill>
                  <a:schemeClr val="tx2"/>
                </a:solidFill>
                <a:latin typeface="Times New Roman"/>
              </a:rPr>
              <a:t>CONTD...</a:t>
            </a:r>
          </a:p>
        </p:txBody>
      </p:sp>
      <p:sp>
        <p:nvSpPr>
          <p:cNvPr id="3" name="TextBox 2"/>
          <p:cNvSpPr txBox="1"/>
          <p:nvPr/>
        </p:nvSpPr>
        <p:spPr>
          <a:xfrm>
            <a:off x="609600" y="1935480"/>
            <a:ext cx="10972800" cy="4389120"/>
          </a:xfrm>
          <a:prstGeom prst="rect">
            <a:avLst/>
          </a:prstGeom>
          <a:noFill/>
        </p:spPr>
        <p:txBody>
          <a:bodyPr wrap="square">
            <a:spAutoFit/>
          </a:bodyPr>
          <a:lstStyle/>
          <a:p>
            <a:pPr algn="just">
              <a:spcAft>
                <a:spcPts val="600"/>
              </a:spcAft>
            </a:pPr>
            <a:r>
              <a:rPr sz="2000" b="0">
                <a:latin typeface="Times New Roman"/>
              </a:rPr>
              <a:t>[11] Caruana, R. et al. (2006) 'Supervised Learning Algorithms', ACM ICML, pp. 161-168.</a:t>
            </a:r>
          </a:p>
          <a:p>
            <a:pPr algn="just">
              <a:spcAft>
                <a:spcPts val="600"/>
              </a:spcAft>
            </a:pPr>
            <a:r>
              <a:rPr sz="2000" b="0">
                <a:latin typeface="Times New Roman"/>
              </a:rPr>
              <a:t>[12] Ben-Sasson, E. et al. (2014) 'Zerocash: Anonymous Payments', IEEE S&amp;P, pp. 459-474.</a:t>
            </a:r>
          </a:p>
          <a:p>
            <a:pPr algn="just">
              <a:spcAft>
                <a:spcPts val="600"/>
              </a:spcAft>
            </a:pPr>
            <a:r>
              <a:rPr sz="2000" b="0">
                <a:latin typeface="Times New Roman"/>
              </a:rPr>
              <a:t>[13] Chen, T. &amp; Guestrin, C. (2016) 'XGBoost', ACM SIGKDD, pp. 785-794.</a:t>
            </a:r>
          </a:p>
          <a:p>
            <a:pPr algn="just">
              <a:spcAft>
                <a:spcPts val="600"/>
              </a:spcAft>
            </a:pPr>
            <a:r>
              <a:rPr sz="2000" b="0">
                <a:latin typeface="Times New Roman"/>
              </a:rPr>
              <a:t>[14] Chawla, N. V. et al. (2002) 'SMOTE', JAIR, 16, pp. 321-357.</a:t>
            </a:r>
          </a:p>
          <a:p>
            <a:pPr algn="just">
              <a:spcAft>
                <a:spcPts val="600"/>
              </a:spcAft>
            </a:pPr>
            <a:r>
              <a:rPr sz="2000" b="0">
                <a:latin typeface="Times New Roman"/>
              </a:rPr>
              <a:t>[15] Szabo, N. (1997) 'Formalizing Relationships on Public Networks', First Monday, 2(9).</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779776"/>
            <a:ext cx="10689336" cy="704088"/>
          </a:xfrm>
          <a:prstGeom prst="rect">
            <a:avLst/>
          </a:prstGeom>
          <a:noFill/>
        </p:spPr>
        <p:txBody>
          <a:bodyPr wrap="square">
            <a:spAutoFit/>
          </a:bodyPr>
          <a:lstStyle/>
          <a:p>
            <a:pPr algn="ctr"/>
            <a:r>
              <a:rPr sz="4000" b="0">
                <a:solidFill>
                  <a:schemeClr val="tx2"/>
                </a:solidFill>
                <a:latin typeface="Times New Roman"/>
              </a:rPr>
              <a:t>THANK YOU</a:t>
            </a:r>
          </a:p>
        </p:txBody>
      </p:sp>
    </p:spTree>
  </p:cSld>
  <p:clrMapOvr>
    <a:masterClrMapping/>
  </p:clrMapOvr>
</p:sld>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Widescreen</PresentationFormat>
  <Paragraphs>0</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36</cp:revision>
  <dcterms:created xsi:type="dcterms:W3CDTF">2013-01-27T09:14:16Z</dcterms:created>
  <dcterms:modified xsi:type="dcterms:W3CDTF">2026-09-16T13:50:34Z</dcterms:modified>
  <cp:category/>
</cp:coreProperties>
</file>